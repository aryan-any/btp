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sldIdLst>
    <p:sldId id="262" r:id="rId2"/>
    <p:sldId id="269" r:id="rId3"/>
    <p:sldId id="270" r:id="rId4"/>
    <p:sldId id="271" r:id="rId5"/>
    <p:sldId id="272" r:id="rId6"/>
    <p:sldId id="273" r:id="rId7"/>
    <p:sldId id="274" r:id="rId8"/>
    <p:sldId id="275" r:id="rId9"/>
    <p:sldId id="276" r:id="rId10"/>
    <p:sldId id="277" r:id="rId11"/>
    <p:sldId id="278" r:id="rId12"/>
    <p:sldId id="279" r:id="rId13"/>
    <p:sldId id="280" r:id="rId14"/>
    <p:sldId id="281" r:id="rId15"/>
    <p:sldId id="266" r:id="rId1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235" autoAdjust="0"/>
  </p:normalViewPr>
  <p:slideViewPr>
    <p:cSldViewPr snapToGrid="0">
      <p:cViewPr varScale="1">
        <p:scale>
          <a:sx n="73" d="100"/>
          <a:sy n="73" d="100"/>
        </p:scale>
        <p:origin x="1766"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Orion" userId="fffcf16b3dd16e72" providerId="LiveId" clId="{3E77CC71-12E5-45DD-84FB-CACA992C4521}"/>
    <pc:docChg chg="modSld">
      <pc:chgData name="Alex Orion" userId="fffcf16b3dd16e72" providerId="LiveId" clId="{3E77CC71-12E5-45DD-84FB-CACA992C4521}" dt="2026-05-19T12:51:40.400" v="21" actId="20577"/>
      <pc:docMkLst>
        <pc:docMk/>
      </pc:docMkLst>
      <pc:sldChg chg="modSp mod">
        <pc:chgData name="Alex Orion" userId="fffcf16b3dd16e72" providerId="LiveId" clId="{3E77CC71-12E5-45DD-84FB-CACA992C4521}" dt="2026-05-19T12:51:31.134" v="14" actId="20577"/>
        <pc:sldMkLst>
          <pc:docMk/>
          <pc:sldMk cId="1848237262" sldId="276"/>
        </pc:sldMkLst>
        <pc:spChg chg="mod">
          <ac:chgData name="Alex Orion" userId="fffcf16b3dd16e72" providerId="LiveId" clId="{3E77CC71-12E5-45DD-84FB-CACA992C4521}" dt="2026-05-19T12:51:31.134" v="14" actId="20577"/>
          <ac:spMkLst>
            <pc:docMk/>
            <pc:sldMk cId="1848237262" sldId="276"/>
            <ac:spMk id="3" creationId="{C7FC35F6-F47A-B3C5-B2E1-1D2CF2325179}"/>
          </ac:spMkLst>
        </pc:spChg>
      </pc:sldChg>
      <pc:sldChg chg="modSp mod">
        <pc:chgData name="Alex Orion" userId="fffcf16b3dd16e72" providerId="LiveId" clId="{3E77CC71-12E5-45DD-84FB-CACA992C4521}" dt="2026-05-19T12:51:40.400" v="21" actId="20577"/>
        <pc:sldMkLst>
          <pc:docMk/>
          <pc:sldMk cId="706814148" sldId="277"/>
        </pc:sldMkLst>
        <pc:spChg chg="mod">
          <ac:chgData name="Alex Orion" userId="fffcf16b3dd16e72" providerId="LiveId" clId="{3E77CC71-12E5-45DD-84FB-CACA992C4521}" dt="2026-05-19T12:51:40.400" v="21" actId="20577"/>
          <ac:spMkLst>
            <pc:docMk/>
            <pc:sldMk cId="706814148" sldId="277"/>
            <ac:spMk id="3" creationId="{21D0956B-5998-8D8B-5A56-D8382E4123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19-05-2026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p:txBody>
      </p:sp>
      <p:sp>
        <p:nvSpPr>
          <p:cNvPr id="4" name="Slide Number Placeholder 3"/>
          <p:cNvSpPr>
            <a:spLocks noGrp="1"/>
          </p:cNvSpPr>
          <p:nvPr>
            <p:ph type="sldNum" sz="quarter" idx="5"/>
          </p:nvPr>
        </p:nvSpPr>
        <p:spPr/>
        <p:txBody>
          <a:bodyPr/>
          <a:lstStyle/>
          <a:p>
            <a:fld id="{BC433DB3-0243-45D5-87FD-27D2F51D2003}" type="slidenum">
              <a:rPr lang="en-IN" smtClean="0"/>
              <a:t>1</a:t>
            </a:fld>
            <a:endParaRPr lang="en-IN"/>
          </a:p>
        </p:txBody>
      </p:sp>
    </p:spTree>
    <p:extLst>
      <p:ext uri="{BB962C8B-B14F-4D97-AF65-F5344CB8AC3E}">
        <p14:creationId xmlns:p14="http://schemas.microsoft.com/office/powerpoint/2010/main" val="3811710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 the stage, the rapid expansion of cryptocurrencies has created enormous financial potential, but its anonymous and decentralized structure has also raised serious concerns regarding cybercrimes, including money laundering and Ponzi schemes. As more financial institutions attempt to integrate these digital assets, creating a transparent network capable of withstanding such attacks is critical. </a:t>
            </a:r>
            <a:endParaRPr lang="en-IN" dirty="0"/>
          </a:p>
        </p:txBody>
      </p:sp>
      <p:sp>
        <p:nvSpPr>
          <p:cNvPr id="4" name="Slide Number Placeholder 3"/>
          <p:cNvSpPr>
            <a:spLocks noGrp="1"/>
          </p:cNvSpPr>
          <p:nvPr>
            <p:ph type="sldNum" sz="quarter" idx="5"/>
          </p:nvPr>
        </p:nvSpPr>
        <p:spPr/>
        <p:txBody>
          <a:bodyPr/>
          <a:lstStyle/>
          <a:p>
            <a:fld id="{BC433DB3-0243-45D5-87FD-27D2F51D2003}" type="slidenum">
              <a:rPr lang="en-IN" smtClean="0"/>
              <a:t>2</a:t>
            </a:fld>
            <a:endParaRPr lang="en-IN"/>
          </a:p>
        </p:txBody>
      </p:sp>
    </p:spTree>
    <p:extLst>
      <p:ext uri="{BB962C8B-B14F-4D97-AF65-F5344CB8AC3E}">
        <p14:creationId xmlns:p14="http://schemas.microsoft.com/office/powerpoint/2010/main" val="2644152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87A95-D8F1-3F1A-8589-47CA8E91A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9CF52-6675-EE19-91CC-F9660624AE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55A508-2F13-EC34-4F02-226EC24E2B40}"/>
              </a:ext>
            </a:extLst>
          </p:cNvPr>
          <p:cNvSpPr>
            <a:spLocks noGrp="1"/>
          </p:cNvSpPr>
          <p:nvPr>
            <p:ph type="body" idx="1"/>
          </p:nvPr>
        </p:nvSpPr>
        <p:spPr/>
        <p:txBody>
          <a:bodyPr/>
          <a:lstStyle/>
          <a:p>
            <a:r>
              <a:rPr lang="en-US" dirty="0"/>
              <a:t>The core problem with traditional fraud detection is that it is strictly one-dimensional. Forensic analysis of transaction logs can spot a bad smart contract, but it represents an "On-Chain Blindspot"—it completely fails to detect corporate "exit scams" like FTX, where the on-chain mechanics look perfectly valid. Conversely, standard sentiment analysis represents an "Off-Chain Blindspot," as it can detect mass panic but easily misses stealthy smart contract scams affecting smaller pools of users.</a:t>
            </a:r>
            <a:endParaRPr lang="en-IN" dirty="0"/>
          </a:p>
        </p:txBody>
      </p:sp>
      <p:sp>
        <p:nvSpPr>
          <p:cNvPr id="4" name="Slide Number Placeholder 3">
            <a:extLst>
              <a:ext uri="{FF2B5EF4-FFF2-40B4-BE49-F238E27FC236}">
                <a16:creationId xmlns:a16="http://schemas.microsoft.com/office/drawing/2014/main" id="{2C24811C-3478-8471-3C87-25C54918CC4F}"/>
              </a:ext>
            </a:extLst>
          </p:cNvPr>
          <p:cNvSpPr>
            <a:spLocks noGrp="1"/>
          </p:cNvSpPr>
          <p:nvPr>
            <p:ph type="sldNum" sz="quarter" idx="5"/>
          </p:nvPr>
        </p:nvSpPr>
        <p:spPr/>
        <p:txBody>
          <a:bodyPr/>
          <a:lstStyle/>
          <a:p>
            <a:fld id="{BC433DB3-0243-45D5-87FD-27D2F51D2003}" type="slidenum">
              <a:rPr lang="en-IN" smtClean="0"/>
              <a:t>3</a:t>
            </a:fld>
            <a:endParaRPr lang="en-IN"/>
          </a:p>
        </p:txBody>
      </p:sp>
    </p:spTree>
    <p:extLst>
      <p:ext uri="{BB962C8B-B14F-4D97-AF65-F5344CB8AC3E}">
        <p14:creationId xmlns:p14="http://schemas.microsoft.com/office/powerpoint/2010/main" val="3786694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FED2E-BB2A-ED1B-EC4D-4A2C3D857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EE2648-AE82-FF22-72AE-7245B39680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7848E-5974-CD40-938B-0E367866281E}"/>
              </a:ext>
            </a:extLst>
          </p:cNvPr>
          <p:cNvSpPr>
            <a:spLocks noGrp="1"/>
          </p:cNvSpPr>
          <p:nvPr>
            <p:ph type="body" idx="1"/>
          </p:nvPr>
        </p:nvSpPr>
        <p:spPr/>
        <p:txBody>
          <a:bodyPr/>
          <a:lstStyle/>
          <a:p>
            <a:r>
              <a:rPr lang="en-US" dirty="0"/>
              <a:t>To solve this, our project proposes a synergistic "Dual-Path" architecture. We combine Path 1, an Off-Chain Sentiment Analysis using Natural Language Processing on public forums, with Path 2, an On-Chain Anomaly Detection system utilizing supervised machine learning classifiers to flag suspicious transactional behavior.</a:t>
            </a:r>
            <a:endParaRPr lang="en-IN" dirty="0"/>
          </a:p>
        </p:txBody>
      </p:sp>
      <p:sp>
        <p:nvSpPr>
          <p:cNvPr id="4" name="Slide Number Placeholder 3">
            <a:extLst>
              <a:ext uri="{FF2B5EF4-FFF2-40B4-BE49-F238E27FC236}">
                <a16:creationId xmlns:a16="http://schemas.microsoft.com/office/drawing/2014/main" id="{98CB48A6-ABA3-CD69-3D58-365E7456ABDB}"/>
              </a:ext>
            </a:extLst>
          </p:cNvPr>
          <p:cNvSpPr>
            <a:spLocks noGrp="1"/>
          </p:cNvSpPr>
          <p:nvPr>
            <p:ph type="sldNum" sz="quarter" idx="5"/>
          </p:nvPr>
        </p:nvSpPr>
        <p:spPr/>
        <p:txBody>
          <a:bodyPr/>
          <a:lstStyle/>
          <a:p>
            <a:fld id="{BC433DB3-0243-45D5-87FD-27D2F51D2003}" type="slidenum">
              <a:rPr lang="en-IN" smtClean="0"/>
              <a:t>4</a:t>
            </a:fld>
            <a:endParaRPr lang="en-IN"/>
          </a:p>
        </p:txBody>
      </p:sp>
    </p:spTree>
    <p:extLst>
      <p:ext uri="{BB962C8B-B14F-4D97-AF65-F5344CB8AC3E}">
        <p14:creationId xmlns:p14="http://schemas.microsoft.com/office/powerpoint/2010/main" val="2384997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28F42-C22E-C29F-AE5D-530ECF017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0383E-3999-B1C3-751B-170E5AD25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7F7A0-0F13-F5AE-93F6-82E172CAC4C0}"/>
              </a:ext>
            </a:extLst>
          </p:cNvPr>
          <p:cNvSpPr>
            <a:spLocks noGrp="1"/>
          </p:cNvSpPr>
          <p:nvPr>
            <p:ph type="body" idx="1"/>
          </p:nvPr>
        </p:nvSpPr>
        <p:spPr/>
        <p:txBody>
          <a:bodyPr/>
          <a:lstStyle/>
          <a:p>
            <a:r>
              <a:rPr lang="en-US" dirty="0"/>
              <a:t>During Phase 1, we focused on the social element. We built a custom Reddit scraper using the Python Reddit API Wrapper (PRAW) to pull real-time discussions from major subreddits. We process this text through a two-tiered system: Tier 1 uses VADER, which acts as our baseline because it excels at parsing internet slang and emojis. Tier 2 is designed to utilize </a:t>
            </a:r>
            <a:r>
              <a:rPr lang="en-US" dirty="0" err="1"/>
              <a:t>FinBERT</a:t>
            </a:r>
            <a:r>
              <a:rPr lang="en-US" dirty="0"/>
              <a:t>, a transformer model pre-trained on financial texts to catch nuanced sarcasm and context.</a:t>
            </a:r>
            <a:endParaRPr lang="en-IN" dirty="0"/>
          </a:p>
        </p:txBody>
      </p:sp>
      <p:sp>
        <p:nvSpPr>
          <p:cNvPr id="4" name="Slide Number Placeholder 3">
            <a:extLst>
              <a:ext uri="{FF2B5EF4-FFF2-40B4-BE49-F238E27FC236}">
                <a16:creationId xmlns:a16="http://schemas.microsoft.com/office/drawing/2014/main" id="{EE418A2C-8C0D-0AB3-56AC-2698B20D97EA}"/>
              </a:ext>
            </a:extLst>
          </p:cNvPr>
          <p:cNvSpPr>
            <a:spLocks noGrp="1"/>
          </p:cNvSpPr>
          <p:nvPr>
            <p:ph type="sldNum" sz="quarter" idx="5"/>
          </p:nvPr>
        </p:nvSpPr>
        <p:spPr/>
        <p:txBody>
          <a:bodyPr/>
          <a:lstStyle/>
          <a:p>
            <a:fld id="{BC433DB3-0243-45D5-87FD-27D2F51D2003}" type="slidenum">
              <a:rPr lang="en-IN" smtClean="0"/>
              <a:t>5</a:t>
            </a:fld>
            <a:endParaRPr lang="en-IN"/>
          </a:p>
        </p:txBody>
      </p:sp>
    </p:spTree>
    <p:extLst>
      <p:ext uri="{BB962C8B-B14F-4D97-AF65-F5344CB8AC3E}">
        <p14:creationId xmlns:p14="http://schemas.microsoft.com/office/powerpoint/2010/main" val="2650460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E9DE-3483-6098-543F-C765626B2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23F7F-9F12-00F3-AAFC-5D01041BA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15CD7-EA3E-28A3-BF67-DAE231BDA857}"/>
              </a:ext>
            </a:extLst>
          </p:cNvPr>
          <p:cNvSpPr>
            <a:spLocks noGrp="1"/>
          </p:cNvSpPr>
          <p:nvPr>
            <p:ph type="body" idx="1"/>
          </p:nvPr>
        </p:nvSpPr>
        <p:spPr/>
        <p:txBody>
          <a:bodyPr/>
          <a:lstStyle/>
          <a:p>
            <a:r>
              <a:rPr lang="en-US" dirty="0"/>
              <a:t>Rather than just looking at a static sentiment score, we developed a dynamic Risk Formula. A true scam triggers what we call a "Panic Event." We calculate the 'Panic Velocity'—the steepness of the sentiment decline—and multiply it by the sudden spike in discussion volume. This separates a general market downturn from a targeted "rug pull."</a:t>
            </a:r>
          </a:p>
        </p:txBody>
      </p:sp>
      <p:sp>
        <p:nvSpPr>
          <p:cNvPr id="4" name="Slide Number Placeholder 3">
            <a:extLst>
              <a:ext uri="{FF2B5EF4-FFF2-40B4-BE49-F238E27FC236}">
                <a16:creationId xmlns:a16="http://schemas.microsoft.com/office/drawing/2014/main" id="{B5EE5DDF-B1C0-83DB-72C8-5CA85CBE8BA0}"/>
              </a:ext>
            </a:extLst>
          </p:cNvPr>
          <p:cNvSpPr>
            <a:spLocks noGrp="1"/>
          </p:cNvSpPr>
          <p:nvPr>
            <p:ph type="sldNum" sz="quarter" idx="5"/>
          </p:nvPr>
        </p:nvSpPr>
        <p:spPr/>
        <p:txBody>
          <a:bodyPr/>
          <a:lstStyle/>
          <a:p>
            <a:fld id="{BC433DB3-0243-45D5-87FD-27D2F51D2003}" type="slidenum">
              <a:rPr lang="en-IN" smtClean="0"/>
              <a:t>6</a:t>
            </a:fld>
            <a:endParaRPr lang="en-IN"/>
          </a:p>
        </p:txBody>
      </p:sp>
    </p:spTree>
    <p:extLst>
      <p:ext uri="{BB962C8B-B14F-4D97-AF65-F5344CB8AC3E}">
        <p14:creationId xmlns:p14="http://schemas.microsoft.com/office/powerpoint/2010/main" val="294116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25356-43D7-8DEE-FBF6-4B0182192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75895-5E91-4993-F484-E05B48BD7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733F1-67A3-B537-A2FD-D03E35BB5B60}"/>
              </a:ext>
            </a:extLst>
          </p:cNvPr>
          <p:cNvSpPr>
            <a:spLocks noGrp="1"/>
          </p:cNvSpPr>
          <p:nvPr>
            <p:ph type="body" idx="1"/>
          </p:nvPr>
        </p:nvSpPr>
        <p:spPr/>
        <p:txBody>
          <a:bodyPr/>
          <a:lstStyle/>
          <a:p>
            <a:r>
              <a:rPr lang="en-US" dirty="0"/>
              <a:t>To rigorously validate this off-chain architecture, we </a:t>
            </a:r>
            <a:r>
              <a:rPr lang="en-US" dirty="0" err="1"/>
              <a:t>backtested</a:t>
            </a:r>
            <a:r>
              <a:rPr lang="en-US" dirty="0"/>
              <a:t> our system against two vastly different historical datasets: an active, developing scam called </a:t>
            </a:r>
            <a:r>
              <a:rPr lang="en-US" dirty="0" err="1"/>
              <a:t>ZKasino</a:t>
            </a:r>
            <a:r>
              <a:rPr lang="en-US" dirty="0"/>
              <a:t>, and the massive, historical collapse of the FTX exchange.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case of </a:t>
            </a:r>
            <a:r>
              <a:rPr lang="en-US" dirty="0" err="1"/>
              <a:t>ZKasino</a:t>
            </a:r>
            <a:r>
              <a:rPr lang="en-US" dirty="0"/>
              <a:t>—a 30 million dollar smart contract rug pull—our model isolated the threat perfectly. Even with a tiny dataset of just 67 comments scraped during the withdrawal freeze, the negative sentiment spiked to 13.35%. The system immediately flagged it as an "Overwhelmingly Negative" critical risk in real-time, cutting right through the bot noise.</a:t>
            </a:r>
          </a:p>
          <a:p>
            <a:endParaRPr lang="en-IN" dirty="0"/>
          </a:p>
        </p:txBody>
      </p:sp>
      <p:sp>
        <p:nvSpPr>
          <p:cNvPr id="4" name="Slide Number Placeholder 3">
            <a:extLst>
              <a:ext uri="{FF2B5EF4-FFF2-40B4-BE49-F238E27FC236}">
                <a16:creationId xmlns:a16="http://schemas.microsoft.com/office/drawing/2014/main" id="{F10AA537-E183-1C72-5FC2-54EC5E2935A7}"/>
              </a:ext>
            </a:extLst>
          </p:cNvPr>
          <p:cNvSpPr>
            <a:spLocks noGrp="1"/>
          </p:cNvSpPr>
          <p:nvPr>
            <p:ph type="sldNum" sz="quarter" idx="5"/>
          </p:nvPr>
        </p:nvSpPr>
        <p:spPr/>
        <p:txBody>
          <a:bodyPr/>
          <a:lstStyle/>
          <a:p>
            <a:fld id="{BC433DB3-0243-45D5-87FD-27D2F51D2003}" type="slidenum">
              <a:rPr lang="en-IN" smtClean="0"/>
              <a:t>7</a:t>
            </a:fld>
            <a:endParaRPr lang="en-IN"/>
          </a:p>
        </p:txBody>
      </p:sp>
    </p:spTree>
    <p:extLst>
      <p:ext uri="{BB962C8B-B14F-4D97-AF65-F5344CB8AC3E}">
        <p14:creationId xmlns:p14="http://schemas.microsoft.com/office/powerpoint/2010/main" val="359178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EA5E-A5BF-CA81-95E8-B64922C63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40132-5CE6-8000-DC05-CCA5DAD8F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1E51C-32A7-E0BE-B9EB-EF1B3E401471}"/>
              </a:ext>
            </a:extLst>
          </p:cNvPr>
          <p:cNvSpPr>
            <a:spLocks noGrp="1"/>
          </p:cNvSpPr>
          <p:nvPr>
            <p:ph type="body" idx="1"/>
          </p:nvPr>
        </p:nvSpPr>
        <p:spPr/>
        <p:txBody>
          <a:bodyPr/>
          <a:lstStyle/>
          <a:p>
            <a:r>
              <a:rPr lang="en-US" dirty="0"/>
              <a:t>FTX served as our stress test for high-noise environments. Out of over 9,000 comments, the scam signal was heavily diluted by memes, jokes, and denial. Despite this, the model successfully isolated a baseline negative sentiment of 8.07%. These two case studies confirmed for us that a threshold of </a:t>
            </a:r>
            <a:r>
              <a:rPr lang="en-US" b="1" dirty="0"/>
              <a:t>&gt;8%</a:t>
            </a:r>
            <a:r>
              <a:rPr lang="en-US" dirty="0"/>
              <a:t> negative sentiment is a highly reliable indicator of fraudulent activity across different scales.</a:t>
            </a:r>
            <a:endParaRPr lang="en-IN" dirty="0"/>
          </a:p>
        </p:txBody>
      </p:sp>
      <p:sp>
        <p:nvSpPr>
          <p:cNvPr id="4" name="Slide Number Placeholder 3">
            <a:extLst>
              <a:ext uri="{FF2B5EF4-FFF2-40B4-BE49-F238E27FC236}">
                <a16:creationId xmlns:a16="http://schemas.microsoft.com/office/drawing/2014/main" id="{25FA8F04-621C-E887-E8F6-D6FA4CACA87C}"/>
              </a:ext>
            </a:extLst>
          </p:cNvPr>
          <p:cNvSpPr>
            <a:spLocks noGrp="1"/>
          </p:cNvSpPr>
          <p:nvPr>
            <p:ph type="sldNum" sz="quarter" idx="5"/>
          </p:nvPr>
        </p:nvSpPr>
        <p:spPr/>
        <p:txBody>
          <a:bodyPr/>
          <a:lstStyle/>
          <a:p>
            <a:fld id="{BC433DB3-0243-45D5-87FD-27D2F51D2003}" type="slidenum">
              <a:rPr lang="en-IN" smtClean="0"/>
              <a:t>8</a:t>
            </a:fld>
            <a:endParaRPr lang="en-IN"/>
          </a:p>
        </p:txBody>
      </p:sp>
    </p:spTree>
    <p:extLst>
      <p:ext uri="{BB962C8B-B14F-4D97-AF65-F5344CB8AC3E}">
        <p14:creationId xmlns:p14="http://schemas.microsoft.com/office/powerpoint/2010/main" val="3923530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2075C-4AFD-C78C-F49E-8DFA8FF95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98E66-96D7-DFAC-E9E1-5B87BBAB9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0D16CF-E5AB-88FB-BD9F-101B98E62055}"/>
              </a:ext>
            </a:extLst>
          </p:cNvPr>
          <p:cNvSpPr>
            <a:spLocks noGrp="1"/>
          </p:cNvSpPr>
          <p:nvPr>
            <p:ph type="body" idx="1"/>
          </p:nvPr>
        </p:nvSpPr>
        <p:spPr/>
        <p:txBody>
          <a:bodyPr/>
          <a:lstStyle/>
          <a:p>
            <a:r>
              <a:rPr lang="en-US" dirty="0"/>
              <a:t>Moving to Phase 2, we shifted our focus to forensic blockchain analysis. Our dataset includes rows containing both legitimate Ethereum transactions and known fraudulent ones. We implemented a rigorous preprocessing pipeline, particularly focusing on handling missing values—a step where the procedure depends entirely on the extent of missingness and the data's nature. We also utilized cross-validation to ensure our models function effectively when exposed to fresh, untested data. </a:t>
            </a:r>
            <a:endParaRPr lang="en-IN" dirty="0"/>
          </a:p>
        </p:txBody>
      </p:sp>
      <p:sp>
        <p:nvSpPr>
          <p:cNvPr id="4" name="Slide Number Placeholder 3">
            <a:extLst>
              <a:ext uri="{FF2B5EF4-FFF2-40B4-BE49-F238E27FC236}">
                <a16:creationId xmlns:a16="http://schemas.microsoft.com/office/drawing/2014/main" id="{6F31CECA-EAD3-6177-86DA-838A93A98376}"/>
              </a:ext>
            </a:extLst>
          </p:cNvPr>
          <p:cNvSpPr>
            <a:spLocks noGrp="1"/>
          </p:cNvSpPr>
          <p:nvPr>
            <p:ph type="sldNum" sz="quarter" idx="5"/>
          </p:nvPr>
        </p:nvSpPr>
        <p:spPr/>
        <p:txBody>
          <a:bodyPr/>
          <a:lstStyle/>
          <a:p>
            <a:fld id="{BC433DB3-0243-45D5-87FD-27D2F51D2003}" type="slidenum">
              <a:rPr lang="en-IN" smtClean="0"/>
              <a:t>9</a:t>
            </a:fld>
            <a:endParaRPr lang="en-IN"/>
          </a:p>
        </p:txBody>
      </p:sp>
    </p:spTree>
    <p:extLst>
      <p:ext uri="{BB962C8B-B14F-4D97-AF65-F5344CB8AC3E}">
        <p14:creationId xmlns:p14="http://schemas.microsoft.com/office/powerpoint/2010/main" val="3428438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70F51-DBD3-3D37-F134-E947A700C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5FEF-A0B7-8D4E-BF3A-4E2B1DED8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6B6E5-13CC-7CDB-D11F-EADA53551F2A}"/>
              </a:ext>
            </a:extLst>
          </p:cNvPr>
          <p:cNvSpPr>
            <a:spLocks noGrp="1"/>
          </p:cNvSpPr>
          <p:nvPr>
            <p:ph type="body" idx="1"/>
          </p:nvPr>
        </p:nvSpPr>
        <p:spPr/>
        <p:txBody>
          <a:bodyPr/>
          <a:lstStyle/>
          <a:p>
            <a:r>
              <a:rPr lang="en-US" dirty="0"/>
              <a:t>Because processing raw blockchain data is computationally expensive, we prioritized feature engineering to extract a limited, high-impact vector. We focused heavily on transactional indicators, plotting densities for the average mean time between sent transactions and received transactions, while also incorporating total Ether volume and the interaction counts with known smart contracts.</a:t>
            </a:r>
            <a:endParaRPr lang="en-IN" dirty="0"/>
          </a:p>
        </p:txBody>
      </p:sp>
      <p:sp>
        <p:nvSpPr>
          <p:cNvPr id="4" name="Slide Number Placeholder 3">
            <a:extLst>
              <a:ext uri="{FF2B5EF4-FFF2-40B4-BE49-F238E27FC236}">
                <a16:creationId xmlns:a16="http://schemas.microsoft.com/office/drawing/2014/main" id="{3D089A81-F99F-A767-321F-59706515BC0F}"/>
              </a:ext>
            </a:extLst>
          </p:cNvPr>
          <p:cNvSpPr>
            <a:spLocks noGrp="1"/>
          </p:cNvSpPr>
          <p:nvPr>
            <p:ph type="sldNum" sz="quarter" idx="5"/>
          </p:nvPr>
        </p:nvSpPr>
        <p:spPr/>
        <p:txBody>
          <a:bodyPr/>
          <a:lstStyle/>
          <a:p>
            <a:fld id="{BC433DB3-0243-45D5-87FD-27D2F51D2003}" type="slidenum">
              <a:rPr lang="en-IN" smtClean="0"/>
              <a:t>10</a:t>
            </a:fld>
            <a:endParaRPr lang="en-IN"/>
          </a:p>
        </p:txBody>
      </p:sp>
    </p:spTree>
    <p:extLst>
      <p:ext uri="{BB962C8B-B14F-4D97-AF65-F5344CB8AC3E}">
        <p14:creationId xmlns:p14="http://schemas.microsoft.com/office/powerpoint/2010/main" val="544827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08F5-EB5E-92EC-99A1-53D26C99F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90397-E4BF-010E-FB61-2EEBE0793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04A0E8-E203-AF78-5C84-20C65A515072}"/>
              </a:ext>
            </a:extLst>
          </p:cNvPr>
          <p:cNvSpPr>
            <a:spLocks noGrp="1"/>
          </p:cNvSpPr>
          <p:nvPr>
            <p:ph type="body" idx="1"/>
          </p:nvPr>
        </p:nvSpPr>
        <p:spPr/>
        <p:txBody>
          <a:bodyPr/>
          <a:lstStyle/>
          <a:p>
            <a:r>
              <a:rPr lang="en-US" dirty="0"/>
              <a:t>For the classification phase, we benchmarked several models, including Logistic Regression, Random Forest, K-Nearest Neighbors, and AdaBoost. We evaluated these models using key metrics such as recall, F1-Score, accuracy, and precision. Our primary candidate, the </a:t>
            </a:r>
            <a:r>
              <a:rPr lang="en-US" dirty="0" err="1"/>
              <a:t>XGBoost</a:t>
            </a:r>
            <a:r>
              <a:rPr lang="en-US" dirty="0"/>
              <a:t> model, proved to be highly noteworthy as it effectively detects variations that might attract notice and prevent potential issues. Based on similar recent studies, </a:t>
            </a:r>
            <a:r>
              <a:rPr lang="en-US" dirty="0" err="1"/>
              <a:t>XGBoost</a:t>
            </a:r>
            <a:r>
              <a:rPr lang="en-US" dirty="0"/>
              <a:t> yields superior results with a 98% accuracy rate.</a:t>
            </a:r>
            <a:br>
              <a:rPr lang="en-US" dirty="0"/>
            </a:br>
            <a:br>
              <a:rPr lang="en-US" dirty="0"/>
            </a:br>
            <a:r>
              <a:rPr lang="en-US" dirty="0"/>
              <a:t>{EDIT FOR FINAL RESULTS}</a:t>
            </a:r>
            <a:endParaRPr lang="en-IN" dirty="0"/>
          </a:p>
        </p:txBody>
      </p:sp>
      <p:sp>
        <p:nvSpPr>
          <p:cNvPr id="4" name="Slide Number Placeholder 3">
            <a:extLst>
              <a:ext uri="{FF2B5EF4-FFF2-40B4-BE49-F238E27FC236}">
                <a16:creationId xmlns:a16="http://schemas.microsoft.com/office/drawing/2014/main" id="{69D2AC3F-4AE2-55F7-B546-5EFE7473DD3C}"/>
              </a:ext>
            </a:extLst>
          </p:cNvPr>
          <p:cNvSpPr>
            <a:spLocks noGrp="1"/>
          </p:cNvSpPr>
          <p:nvPr>
            <p:ph type="sldNum" sz="quarter" idx="5"/>
          </p:nvPr>
        </p:nvSpPr>
        <p:spPr/>
        <p:txBody>
          <a:bodyPr/>
          <a:lstStyle/>
          <a:p>
            <a:fld id="{BC433DB3-0243-45D5-87FD-27D2F51D2003}" type="slidenum">
              <a:rPr lang="en-IN" smtClean="0"/>
              <a:t>11</a:t>
            </a:fld>
            <a:endParaRPr lang="en-IN"/>
          </a:p>
        </p:txBody>
      </p:sp>
    </p:spTree>
    <p:extLst>
      <p:ext uri="{BB962C8B-B14F-4D97-AF65-F5344CB8AC3E}">
        <p14:creationId xmlns:p14="http://schemas.microsoft.com/office/powerpoint/2010/main" val="34206304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972AD-B80C-F9BC-3311-F65CCAF2ED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E3FC2-986C-81A9-CC42-DA5017616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2518B-3C87-CB62-85C0-FD0ADAAD1BB2}"/>
              </a:ext>
            </a:extLst>
          </p:cNvPr>
          <p:cNvSpPr>
            <a:spLocks noGrp="1"/>
          </p:cNvSpPr>
          <p:nvPr>
            <p:ph type="body" idx="1"/>
          </p:nvPr>
        </p:nvSpPr>
        <p:spPr/>
        <p:txBody>
          <a:bodyPr/>
          <a:lstStyle/>
          <a:p>
            <a:r>
              <a:rPr lang="en-US" dirty="0"/>
              <a:t>The culmination of this project is the integration of both pathways. We built a Unified API using </a:t>
            </a:r>
            <a:r>
              <a:rPr lang="en-US" dirty="0" err="1"/>
              <a:t>Uvicorn</a:t>
            </a:r>
            <a:r>
              <a:rPr lang="en-US" dirty="0"/>
              <a:t> and </a:t>
            </a:r>
            <a:r>
              <a:rPr lang="en-US" dirty="0" err="1"/>
              <a:t>FastAPI</a:t>
            </a:r>
            <a:r>
              <a:rPr lang="en-US" dirty="0"/>
              <a:t> that fuses the Sentiment Risk Score from Phase 1 with the On-Chain Probability from our </a:t>
            </a:r>
            <a:r>
              <a:rPr lang="en-US" dirty="0" err="1"/>
              <a:t>XGBoost</a:t>
            </a:r>
            <a:r>
              <a:rPr lang="en-US" dirty="0"/>
              <a:t> model in Phase 2. This creates a single, weighted fraud detection metric that can be visualized on a real-time dashboard.</a:t>
            </a:r>
            <a:endParaRPr lang="en-IN" dirty="0"/>
          </a:p>
        </p:txBody>
      </p:sp>
      <p:sp>
        <p:nvSpPr>
          <p:cNvPr id="4" name="Slide Number Placeholder 3">
            <a:extLst>
              <a:ext uri="{FF2B5EF4-FFF2-40B4-BE49-F238E27FC236}">
                <a16:creationId xmlns:a16="http://schemas.microsoft.com/office/drawing/2014/main" id="{1B92A18B-DC8E-D478-090B-EA2F9B57ED28}"/>
              </a:ext>
            </a:extLst>
          </p:cNvPr>
          <p:cNvSpPr>
            <a:spLocks noGrp="1"/>
          </p:cNvSpPr>
          <p:nvPr>
            <p:ph type="sldNum" sz="quarter" idx="5"/>
          </p:nvPr>
        </p:nvSpPr>
        <p:spPr/>
        <p:txBody>
          <a:bodyPr/>
          <a:lstStyle/>
          <a:p>
            <a:fld id="{BC433DB3-0243-45D5-87FD-27D2F51D2003}" type="slidenum">
              <a:rPr lang="en-IN" smtClean="0"/>
              <a:t>12</a:t>
            </a:fld>
            <a:endParaRPr lang="en-IN"/>
          </a:p>
        </p:txBody>
      </p:sp>
    </p:spTree>
    <p:extLst>
      <p:ext uri="{BB962C8B-B14F-4D97-AF65-F5344CB8AC3E}">
        <p14:creationId xmlns:p14="http://schemas.microsoft.com/office/powerpoint/2010/main" val="7882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A7E63-99FA-BA65-CB4A-32906F2DF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D627A-1121-A0C1-670F-7A60FCF64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142BC-E031-038F-C4E5-FD3F1157EB08}"/>
              </a:ext>
            </a:extLst>
          </p:cNvPr>
          <p:cNvSpPr>
            <a:spLocks noGrp="1"/>
          </p:cNvSpPr>
          <p:nvPr>
            <p:ph type="body" idx="1"/>
          </p:nvPr>
        </p:nvSpPr>
        <p:spPr/>
        <p:txBody>
          <a:bodyPr/>
          <a:lstStyle/>
          <a:p>
            <a:r>
              <a:rPr lang="en-US" dirty="0"/>
              <a:t>We faced notable challenges during development. Off-chain, the "False Positive Paradox" means scam discussions often contain underlying positive sentiment due to automated bots shilling the project. On-chain, the cryptocurrency network allows individuals to normalize their activity by using several addresses and digital wallets, meaning fraudulent actors closely resemble regular users. Finding the subtle deviations in this "in-disguise" behavior remains computationally demanding.</a:t>
            </a:r>
            <a:endParaRPr lang="en-IN" dirty="0"/>
          </a:p>
        </p:txBody>
      </p:sp>
      <p:sp>
        <p:nvSpPr>
          <p:cNvPr id="4" name="Slide Number Placeholder 3">
            <a:extLst>
              <a:ext uri="{FF2B5EF4-FFF2-40B4-BE49-F238E27FC236}">
                <a16:creationId xmlns:a16="http://schemas.microsoft.com/office/drawing/2014/main" id="{4D25B24F-8862-73D6-218D-D8EB5575CEAF}"/>
              </a:ext>
            </a:extLst>
          </p:cNvPr>
          <p:cNvSpPr>
            <a:spLocks noGrp="1"/>
          </p:cNvSpPr>
          <p:nvPr>
            <p:ph type="sldNum" sz="quarter" idx="5"/>
          </p:nvPr>
        </p:nvSpPr>
        <p:spPr/>
        <p:txBody>
          <a:bodyPr/>
          <a:lstStyle/>
          <a:p>
            <a:fld id="{BC433DB3-0243-45D5-87FD-27D2F51D2003}" type="slidenum">
              <a:rPr lang="en-IN" smtClean="0"/>
              <a:t>13</a:t>
            </a:fld>
            <a:endParaRPr lang="en-IN"/>
          </a:p>
        </p:txBody>
      </p:sp>
    </p:spTree>
    <p:extLst>
      <p:ext uri="{BB962C8B-B14F-4D97-AF65-F5344CB8AC3E}">
        <p14:creationId xmlns:p14="http://schemas.microsoft.com/office/powerpoint/2010/main" val="2004551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05452-2F53-2A7B-B2BA-8D41C6791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9A18F-3B15-0487-E1D1-F53FD5A7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D13F8-DC69-9533-8435-537B94B21211}"/>
              </a:ext>
            </a:extLst>
          </p:cNvPr>
          <p:cNvSpPr>
            <a:spLocks noGrp="1"/>
          </p:cNvSpPr>
          <p:nvPr>
            <p:ph type="body" idx="1"/>
          </p:nvPr>
        </p:nvSpPr>
        <p:spPr/>
        <p:txBody>
          <a:bodyPr/>
          <a:lstStyle/>
          <a:p>
            <a:r>
              <a:rPr lang="en-US" dirty="0"/>
              <a:t>In conclusion, we successfully established a dual detection ecosystem. Ultimately, the effectiveness of any cryptocurrency fraud detection system is contingent on the quality of the data, the selection of the classification algorithm, and the precise tuning of the model. By leveraging NLP alongside robust classifiers like </a:t>
            </a:r>
            <a:r>
              <a:rPr lang="en-US" dirty="0" err="1"/>
              <a:t>XGBoost</a:t>
            </a:r>
            <a:r>
              <a:rPr lang="en-US" dirty="0"/>
              <a:t>, we have bridged the gap between reputational tracking and transactional forensics. Thank you for your time; we are now open to any questions.</a:t>
            </a:r>
            <a:endParaRPr lang="en-IN" dirty="0"/>
          </a:p>
        </p:txBody>
      </p:sp>
      <p:sp>
        <p:nvSpPr>
          <p:cNvPr id="4" name="Slide Number Placeholder 3">
            <a:extLst>
              <a:ext uri="{FF2B5EF4-FFF2-40B4-BE49-F238E27FC236}">
                <a16:creationId xmlns:a16="http://schemas.microsoft.com/office/drawing/2014/main" id="{E4B5B1B4-0435-9FC6-E9DB-64B96BB7D5E3}"/>
              </a:ext>
            </a:extLst>
          </p:cNvPr>
          <p:cNvSpPr>
            <a:spLocks noGrp="1"/>
          </p:cNvSpPr>
          <p:nvPr>
            <p:ph type="sldNum" sz="quarter" idx="5"/>
          </p:nvPr>
        </p:nvSpPr>
        <p:spPr/>
        <p:txBody>
          <a:bodyPr/>
          <a:lstStyle/>
          <a:p>
            <a:fld id="{BC433DB3-0243-45D5-87FD-27D2F51D2003}" type="slidenum">
              <a:rPr lang="en-IN" smtClean="0"/>
              <a:t>14</a:t>
            </a:fld>
            <a:endParaRPr lang="en-IN"/>
          </a:p>
        </p:txBody>
      </p:sp>
    </p:spTree>
    <p:extLst>
      <p:ext uri="{BB962C8B-B14F-4D97-AF65-F5344CB8AC3E}">
        <p14:creationId xmlns:p14="http://schemas.microsoft.com/office/powerpoint/2010/main" val="32498933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52529" cy="736270"/>
          </a:xfrm>
          <a:prstGeom prst="rect">
            <a:avLst/>
          </a:prstGeom>
          <a:gradFill>
            <a:gsLst>
              <a:gs pos="1000">
                <a:srgbClr val="166018"/>
              </a:gs>
              <a:gs pos="52000">
                <a:srgbClr val="00B0F0"/>
              </a:gs>
              <a:gs pos="100000">
                <a:schemeClr val="tx2">
                  <a:lumMod val="75000"/>
                </a:schemeClr>
              </a:gs>
              <a:gs pos="100000">
                <a:srgbClr val="4D080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INDIAN INSTITUTE OF TECHNOLOGY ROORKEE</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77895" y="-1281"/>
            <a:ext cx="755828" cy="732103"/>
          </a:xfrm>
          <a:prstGeom prst="rect">
            <a:avLst/>
          </a:prstGeom>
        </p:spPr>
      </p:pic>
      <p:pic>
        <p:nvPicPr>
          <p:cNvPr id="1027"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006150"/>
            <a:ext cx="9133727" cy="185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8164285" y="-1480"/>
            <a:ext cx="979715" cy="961360"/>
          </a:xfrm>
          <a:prstGeom prst="rect">
            <a:avLst/>
          </a:prstGeom>
        </p:spPr>
      </p:pic>
      <p:cxnSp>
        <p:nvCxnSpPr>
          <p:cNvPr id="8" name="Straight Connector 7"/>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p:cNvPicPr>
          <p:nvPr userDrawn="1"/>
        </p:nvPicPr>
        <p:blipFill>
          <a:blip r:embed="rId4">
            <a:lum bright="3000"/>
          </a:blip>
          <a:stretch>
            <a:fillRect/>
          </a:stretch>
        </p:blipFill>
        <p:spPr>
          <a:xfrm>
            <a:off x="1873072" y="2118212"/>
            <a:ext cx="5321656" cy="3510576"/>
          </a:xfrm>
          <a:prstGeom prst="rect">
            <a:avLst/>
          </a:prstGeom>
        </p:spPr>
      </p:pic>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p:nvPr>
        </p:nvSpPr>
        <p:spPr>
          <a:xfrm>
            <a:off x="180654" y="202990"/>
            <a:ext cx="7042080" cy="554587"/>
          </a:xfrm>
        </p:spPr>
        <p:txBody>
          <a:bodyPr/>
          <a:lstStyle>
            <a:lvl1pPr algn="l">
              <a:defRPr sz="3200" b="1"/>
            </a:lvl1pPr>
          </a:lstStyle>
          <a:p>
            <a:r>
              <a:rPr lang="en-US"/>
              <a:t>Click to edit Master title style</a:t>
            </a:r>
            <a:endParaRPr lang="en-IN" dirty="0"/>
          </a:p>
        </p:txBody>
      </p:sp>
      <p:sp>
        <p:nvSpPr>
          <p:cNvPr id="12" name="Content Placeholder 3"/>
          <p:cNvSpPr>
            <a:spLocks noGrp="1"/>
          </p:cNvSpPr>
          <p:nvPr>
            <p:ph sz="half" idx="2"/>
          </p:nvPr>
        </p:nvSpPr>
        <p:spPr>
          <a:xfrm>
            <a:off x="180653" y="1173984"/>
            <a:ext cx="8768137"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1873072" y="2118212"/>
            <a:ext cx="5321656" cy="3510576"/>
          </a:xfrm>
          <a:prstGeom prst="rect">
            <a:avLst/>
          </a:prstGeom>
        </p:spPr>
      </p:pic>
      <p:sp>
        <p:nvSpPr>
          <p:cNvPr id="2" name="Title 1"/>
          <p:cNvSpPr>
            <a:spLocks noGrp="1"/>
          </p:cNvSpPr>
          <p:nvPr>
            <p:ph type="title"/>
          </p:nvPr>
        </p:nvSpPr>
        <p:spPr>
          <a:xfrm>
            <a:off x="180654" y="202990"/>
            <a:ext cx="7042080" cy="554587"/>
          </a:xfrm>
        </p:spPr>
        <p:txBody>
          <a:bodyPr/>
          <a:lstStyle>
            <a:lvl1pPr algn="l">
              <a:defRPr sz="3200" b="1"/>
            </a:lvl1pPr>
          </a:lstStyle>
          <a:p>
            <a:r>
              <a:rPr lang="en-US"/>
              <a:t>Click to edit Master title style</a:t>
            </a:r>
            <a:endParaRPr lang="en-IN" dirty="0"/>
          </a:p>
        </p:txBody>
      </p:sp>
      <p:sp>
        <p:nvSpPr>
          <p:cNvPr id="3" name="Text Placeholder 2"/>
          <p:cNvSpPr>
            <a:spLocks noGrp="1"/>
          </p:cNvSpPr>
          <p:nvPr>
            <p:ph type="body" idx="1"/>
          </p:nvPr>
        </p:nvSpPr>
        <p:spPr>
          <a:xfrm>
            <a:off x="180654" y="1132413"/>
            <a:ext cx="4288604"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80654" y="1613043"/>
            <a:ext cx="4288604"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4"/>
          <p:cNvSpPr>
            <a:spLocks noGrp="1"/>
          </p:cNvSpPr>
          <p:nvPr>
            <p:ph type="body" sz="quarter" idx="3"/>
          </p:nvPr>
        </p:nvSpPr>
        <p:spPr>
          <a:xfrm>
            <a:off x="4645025" y="1125166"/>
            <a:ext cx="424212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613043"/>
            <a:ext cx="424212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pic>
        <p:nvPicPr>
          <p:cNvPr id="10" name="Picture 9"/>
          <p:cNvPicPr>
            <a:picLocks noChangeAspect="1"/>
          </p:cNvPicPr>
          <p:nvPr userDrawn="1"/>
        </p:nvPicPr>
        <p:blipFill>
          <a:blip r:embed="rId3"/>
          <a:stretch>
            <a:fillRect/>
          </a:stretch>
        </p:blipFill>
        <p:spPr>
          <a:xfrm>
            <a:off x="8164285" y="-1480"/>
            <a:ext cx="979715" cy="961360"/>
          </a:xfrm>
          <a:prstGeom prst="rect">
            <a:avLst/>
          </a:prstGeom>
        </p:spPr>
      </p:pic>
      <p:cxnSp>
        <p:nvCxnSpPr>
          <p:cNvPr id="11" name="Straight Connector 10"/>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lum bright="3000"/>
          </a:blip>
          <a:stretch>
            <a:fillRect/>
          </a:stretch>
        </p:blipFill>
        <p:spPr>
          <a:xfrm>
            <a:off x="1873072" y="2118212"/>
            <a:ext cx="5321656" cy="3510576"/>
          </a:xfrm>
          <a:prstGeom prst="rect">
            <a:avLst/>
          </a:prstGeom>
        </p:spPr>
      </p:pic>
      <p:pic>
        <p:nvPicPr>
          <p:cNvPr id="6" name="Picture 5"/>
          <p:cNvPicPr>
            <a:picLocks noChangeAspect="1"/>
          </p:cNvPicPr>
          <p:nvPr userDrawn="1"/>
        </p:nvPicPr>
        <p:blipFill>
          <a:blip r:embed="rId3"/>
          <a:stretch>
            <a:fillRect/>
          </a:stretch>
        </p:blipFill>
        <p:spPr>
          <a:xfrm>
            <a:off x="8164285" y="-1480"/>
            <a:ext cx="979715" cy="961360"/>
          </a:xfrm>
          <a:prstGeom prst="rect">
            <a:avLst/>
          </a:prstGeom>
        </p:spPr>
      </p:pic>
      <p:cxnSp>
        <p:nvCxnSpPr>
          <p:cNvPr id="7" name="Straight Connector 6"/>
          <p:cNvCxnSpPr/>
          <p:nvPr userDrawn="1"/>
        </p:nvCxnSpPr>
        <p:spPr>
          <a:xfrm>
            <a:off x="0" y="990600"/>
            <a:ext cx="9144000"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9144000" cy="0"/>
          </a:xfrm>
          <a:prstGeom prst="line">
            <a:avLst/>
          </a:prstGeom>
          <a:ln w="2222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64197" y="6447291"/>
            <a:ext cx="16668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8382001" y="6607628"/>
            <a:ext cx="762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mtClean="0"/>
              <a:pPr algn="r">
                <a:defRPr/>
              </a:pPr>
              <a:t>‹#›</a:t>
            </a:fld>
            <a:endParaRPr lang="en-US" altLang="en-US" dirty="0"/>
          </a:p>
        </p:txBody>
      </p:sp>
      <p:sp>
        <p:nvSpPr>
          <p:cNvPr id="11" name="Title 1"/>
          <p:cNvSpPr>
            <a:spLocks noGrp="1"/>
          </p:cNvSpPr>
          <p:nvPr>
            <p:ph type="title" hasCustomPrompt="1"/>
          </p:nvPr>
        </p:nvSpPr>
        <p:spPr>
          <a:xfrm>
            <a:off x="3363913" y="2971801"/>
            <a:ext cx="2452687" cy="711200"/>
          </a:xfrm>
        </p:spPr>
        <p:txBody>
          <a:bodyPr anchor="t"/>
          <a:lstStyle>
            <a:lvl1pPr algn="ctr">
              <a:defRPr sz="3600" b="1" cap="none"/>
            </a:lvl1pPr>
          </a:lstStyle>
          <a:p>
            <a:r>
              <a:rPr lang="en-US" dirty="0"/>
              <a:t>Thanks…</a:t>
            </a:r>
            <a:endParaRPr lang="en-IN" dirty="0"/>
          </a:p>
        </p:txBody>
      </p:sp>
      <p:cxnSp>
        <p:nvCxnSpPr>
          <p:cNvPr id="12" name="Straight Connector 11"/>
          <p:cNvCxnSpPr/>
          <p:nvPr userDrawn="1"/>
        </p:nvCxnSpPr>
        <p:spPr>
          <a:xfrm>
            <a:off x="3595524" y="3619535"/>
            <a:ext cx="2009553" cy="0"/>
          </a:xfrm>
          <a:prstGeom prst="line">
            <a:avLst/>
          </a:prstGeom>
          <a:ln w="508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5/19/2026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1069520" y="1699579"/>
            <a:ext cx="7247166" cy="945649"/>
          </a:xfrm>
        </p:spPr>
        <p:txBody>
          <a:bodyPr/>
          <a:lstStyle>
            <a:lvl1pPr algn="ctr">
              <a:defRPr sz="2800" b="1">
                <a:latin typeface="+mn-lt"/>
              </a:defRPr>
            </a:lvl1pPr>
          </a:lstStyle>
          <a:p>
            <a:r>
              <a:rPr lang="en-US" dirty="0"/>
              <a:t>A MACHINE LEARNING APPROACH TO CRYPTOCURRENCY SCAM DETECTION</a:t>
            </a:r>
            <a:endParaRPr lang="en-IN" dirty="0"/>
          </a:p>
        </p:txBody>
      </p:sp>
      <p:sp>
        <p:nvSpPr>
          <p:cNvPr id="9" name="Text Placeholder 2"/>
          <p:cNvSpPr>
            <a:spLocks noGrp="1"/>
          </p:cNvSpPr>
          <p:nvPr>
            <p:ph type="body" idx="4294967295"/>
          </p:nvPr>
        </p:nvSpPr>
        <p:spPr>
          <a:xfrm>
            <a:off x="1069520" y="2645228"/>
            <a:ext cx="7247166" cy="1342951"/>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Presenters: </a:t>
            </a:r>
            <a:r>
              <a:rPr lang="en-GB" i="1" dirty="0"/>
              <a:t>Aryan Raj (22116021), Aryan Mishra (22116020)</a:t>
            </a:r>
          </a:p>
          <a:p>
            <a:pPr lvl="0"/>
            <a:br>
              <a:rPr lang="en-GB" i="1" dirty="0"/>
            </a:br>
            <a:r>
              <a:rPr lang="en-GB" i="1" dirty="0"/>
              <a:t>Mentor: Dr. Dheeraj Kumar</a:t>
            </a:r>
            <a:br>
              <a:rPr lang="en-GB" i="1" dirty="0"/>
            </a:br>
            <a:r>
              <a:rPr lang="en-GB" i="1" dirty="0"/>
              <a:t>Department of ECE, IIT Roorkee </a:t>
            </a:r>
            <a:endParaRPr lang="en-US" dirty="0"/>
          </a:p>
        </p:txBody>
      </p:sp>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 &amp; Motivation</a:t>
            </a:r>
            <a:endParaRPr lang="en-US" dirty="0"/>
          </a:p>
        </p:txBody>
      </p:sp>
      <p:sp>
        <p:nvSpPr>
          <p:cNvPr id="3" name="Content Placeholder 2"/>
          <p:cNvSpPr>
            <a:spLocks noGrp="1"/>
          </p:cNvSpPr>
          <p:nvPr>
            <p:ph sz="half" idx="2"/>
          </p:nvPr>
        </p:nvSpPr>
        <p:spPr/>
        <p:txBody>
          <a:bodyPr/>
          <a:lstStyle/>
          <a:p>
            <a:pPr marL="0" indent="0">
              <a:buNone/>
            </a:pPr>
            <a:r>
              <a:rPr lang="en-US" b="1" dirty="0">
                <a:latin typeface="+mn-lt"/>
              </a:rPr>
              <a:t>The Core Issue: </a:t>
            </a:r>
            <a:r>
              <a:rPr lang="en-US" dirty="0">
                <a:latin typeface="+mn-lt"/>
              </a:rPr>
              <a:t>Cryptocurrency fraud is multifaced.</a:t>
            </a:r>
          </a:p>
          <a:p>
            <a:pPr marL="0" indent="0">
              <a:buNone/>
            </a:pPr>
            <a:endParaRPr lang="en-US" dirty="0">
              <a:latin typeface="+mn-lt"/>
            </a:endParaRPr>
          </a:p>
          <a:p>
            <a:pPr marL="0" indent="0">
              <a:buNone/>
            </a:pPr>
            <a:r>
              <a:rPr lang="en-US" b="1" dirty="0">
                <a:latin typeface="+mn-lt"/>
              </a:rPr>
              <a:t>Systemic Flaws: </a:t>
            </a:r>
            <a:r>
              <a:rPr lang="en-US" dirty="0">
                <a:latin typeface="+mn-lt"/>
              </a:rPr>
              <a:t>Traditional detection relies on centralized data, but blockchain is decentralized and pseudo-anonymous.</a:t>
            </a:r>
          </a:p>
          <a:p>
            <a:pPr marL="0" indent="0">
              <a:buNone/>
            </a:pPr>
            <a:endParaRPr lang="en-US" dirty="0">
              <a:latin typeface="+mn-lt"/>
            </a:endParaRPr>
          </a:p>
          <a:p>
            <a:pPr marL="0" indent="0">
              <a:buNone/>
            </a:pPr>
            <a:r>
              <a:rPr lang="en-US" b="1" dirty="0">
                <a:latin typeface="+mn-lt"/>
              </a:rPr>
              <a:t>Missing Context: </a:t>
            </a:r>
            <a:r>
              <a:rPr lang="en-US" dirty="0">
                <a:latin typeface="+mn-lt"/>
              </a:rPr>
              <a:t>Traditional detection methods often fail because they focus singularly on either technical transaction anomalies or social sentiment, missing the broader context.</a:t>
            </a:r>
          </a:p>
        </p:txBody>
      </p:sp>
    </p:spTree>
    <p:extLst>
      <p:ext uri="{BB962C8B-B14F-4D97-AF65-F5344CB8AC3E}">
        <p14:creationId xmlns:p14="http://schemas.microsoft.com/office/powerpoint/2010/main" val="27897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EFB33-6C34-8C3E-FFB8-334F0FC81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F88BC-3DA6-3EFC-806B-8FB6B4E08C99}"/>
              </a:ext>
            </a:extLst>
          </p:cNvPr>
          <p:cNvSpPr>
            <a:spLocks noGrp="1"/>
          </p:cNvSpPr>
          <p:nvPr>
            <p:ph type="title"/>
          </p:nvPr>
        </p:nvSpPr>
        <p:spPr>
          <a:xfrm>
            <a:off x="180653" y="183450"/>
            <a:ext cx="7042080" cy="554587"/>
          </a:xfrm>
        </p:spPr>
        <p:txBody>
          <a:bodyPr/>
          <a:lstStyle/>
          <a:p>
            <a:r>
              <a:rPr lang="en-IN" dirty="0"/>
              <a:t>The Detection </a:t>
            </a:r>
            <a:r>
              <a:rPr lang="en-IN" dirty="0" err="1"/>
              <a:t>Blindspots</a:t>
            </a:r>
            <a:endParaRPr lang="en-US" dirty="0"/>
          </a:p>
        </p:txBody>
      </p:sp>
      <p:sp>
        <p:nvSpPr>
          <p:cNvPr id="3" name="Content Placeholder 2">
            <a:extLst>
              <a:ext uri="{FF2B5EF4-FFF2-40B4-BE49-F238E27FC236}">
                <a16:creationId xmlns:a16="http://schemas.microsoft.com/office/drawing/2014/main" id="{1C93D5EF-20A4-1272-83BB-0D8EE3946C98}"/>
              </a:ext>
            </a:extLst>
          </p:cNvPr>
          <p:cNvSpPr>
            <a:spLocks noGrp="1"/>
          </p:cNvSpPr>
          <p:nvPr>
            <p:ph sz="half" idx="2"/>
          </p:nvPr>
        </p:nvSpPr>
        <p:spPr/>
        <p:txBody>
          <a:bodyPr/>
          <a:lstStyle/>
          <a:p>
            <a:pPr marL="0" indent="0">
              <a:buNone/>
            </a:pPr>
            <a:r>
              <a:rPr lang="en-US" b="1" dirty="0">
                <a:latin typeface="+mn-lt"/>
              </a:rPr>
              <a:t>On-Chain Blindspot: </a:t>
            </a:r>
            <a:r>
              <a:rPr lang="en-US" dirty="0">
                <a:latin typeface="+mn-lt"/>
              </a:rPr>
              <a:t>An on-chain model can detect Ponzi logic but fails to detect corporate fraud (e.g., FTX), where wallets look normal but off-chain liabilities explode.</a:t>
            </a:r>
          </a:p>
          <a:p>
            <a:pPr marL="0" indent="0">
              <a:buNone/>
            </a:pPr>
            <a:endParaRPr lang="en-US" b="1" dirty="0">
              <a:latin typeface="+mn-lt"/>
            </a:endParaRPr>
          </a:p>
          <a:p>
            <a:pPr marL="0" indent="0">
              <a:buNone/>
            </a:pPr>
            <a:r>
              <a:rPr lang="en-US" b="1" dirty="0">
                <a:latin typeface="+mn-lt"/>
              </a:rPr>
              <a:t>Off-Chain Blindspot: </a:t>
            </a:r>
            <a:r>
              <a:rPr lang="en-US" dirty="0">
                <a:latin typeface="+mn-lt"/>
              </a:rPr>
              <a:t>Sentiment analysis detects mass panic (e.g., "withdrawal freezes") but misses "stealth" smart contract scams affecting few users.</a:t>
            </a:r>
          </a:p>
        </p:txBody>
      </p:sp>
    </p:spTree>
    <p:extLst>
      <p:ext uri="{BB962C8B-B14F-4D97-AF65-F5344CB8AC3E}">
        <p14:creationId xmlns:p14="http://schemas.microsoft.com/office/powerpoint/2010/main" val="1486856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E69BE-768E-9023-DDC5-3E19D3318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DF3ED-400E-5089-9DDF-BAB077017CF3}"/>
              </a:ext>
            </a:extLst>
          </p:cNvPr>
          <p:cNvSpPr>
            <a:spLocks noGrp="1"/>
          </p:cNvSpPr>
          <p:nvPr>
            <p:ph type="title"/>
          </p:nvPr>
        </p:nvSpPr>
        <p:spPr>
          <a:xfrm>
            <a:off x="180652" y="183450"/>
            <a:ext cx="8104931" cy="554587"/>
          </a:xfrm>
        </p:spPr>
        <p:txBody>
          <a:bodyPr/>
          <a:lstStyle/>
          <a:p>
            <a:r>
              <a:rPr lang="en-US" dirty="0"/>
              <a:t>Proposed Solution: Dual-Path Architecture</a:t>
            </a:r>
          </a:p>
        </p:txBody>
      </p:sp>
      <p:sp>
        <p:nvSpPr>
          <p:cNvPr id="3" name="Content Placeholder 2">
            <a:extLst>
              <a:ext uri="{FF2B5EF4-FFF2-40B4-BE49-F238E27FC236}">
                <a16:creationId xmlns:a16="http://schemas.microsoft.com/office/drawing/2014/main" id="{F5516EB8-2CF1-639B-B6DA-F45E3AC1D9EF}"/>
              </a:ext>
            </a:extLst>
          </p:cNvPr>
          <p:cNvSpPr>
            <a:spLocks noGrp="1"/>
          </p:cNvSpPr>
          <p:nvPr>
            <p:ph sz="half" idx="2"/>
          </p:nvPr>
        </p:nvSpPr>
        <p:spPr/>
        <p:txBody>
          <a:bodyPr/>
          <a:lstStyle/>
          <a:p>
            <a:pPr marL="0" indent="0">
              <a:buNone/>
            </a:pPr>
            <a:r>
              <a:rPr lang="en-US" b="1" dirty="0">
                <a:latin typeface="+mn-lt"/>
              </a:rPr>
              <a:t>Synergistic Approach: </a:t>
            </a:r>
            <a:r>
              <a:rPr lang="en-US" dirty="0">
                <a:latin typeface="+mn-lt"/>
              </a:rPr>
              <a:t>A Dual-Path System combining On-Chain Anomaly Detection with Off-Chain Sentiment Analysis.</a:t>
            </a:r>
          </a:p>
          <a:p>
            <a:pPr marL="0" indent="0">
              <a:buNone/>
            </a:pPr>
            <a:endParaRPr lang="en-US" dirty="0">
              <a:latin typeface="+mn-lt"/>
            </a:endParaRPr>
          </a:p>
          <a:p>
            <a:pPr marL="0" indent="0">
              <a:buNone/>
            </a:pPr>
            <a:r>
              <a:rPr lang="en-US" b="1" dirty="0">
                <a:latin typeface="+mn-lt"/>
              </a:rPr>
              <a:t>Path 1 (Off-Chain): </a:t>
            </a:r>
            <a:r>
              <a:rPr lang="en-US" dirty="0">
                <a:latin typeface="+mn-lt"/>
              </a:rPr>
              <a:t>utilizes Natural Language Processing (NLP) to analyze public sentiment on forums like Reddit.</a:t>
            </a:r>
          </a:p>
          <a:p>
            <a:pPr marL="0" indent="0">
              <a:buNone/>
            </a:pPr>
            <a:endParaRPr lang="en-US" dirty="0">
              <a:latin typeface="+mn-lt"/>
            </a:endParaRPr>
          </a:p>
          <a:p>
            <a:pPr marL="0" indent="0">
              <a:buNone/>
            </a:pPr>
            <a:r>
              <a:rPr lang="en-US" b="1" dirty="0">
                <a:latin typeface="+mn-lt"/>
              </a:rPr>
              <a:t>Path 2 (On-Chain): </a:t>
            </a:r>
            <a:r>
              <a:rPr lang="en-US" dirty="0">
                <a:latin typeface="+mn-lt"/>
              </a:rPr>
              <a:t>utilizes supervised learning (</a:t>
            </a:r>
            <a:r>
              <a:rPr lang="en-US" dirty="0" err="1">
                <a:latin typeface="+mn-lt"/>
              </a:rPr>
              <a:t>XGBoost</a:t>
            </a:r>
            <a:r>
              <a:rPr lang="en-US" dirty="0">
                <a:latin typeface="+mn-lt"/>
              </a:rPr>
              <a:t>) to detect transactional anomalies.</a:t>
            </a:r>
          </a:p>
        </p:txBody>
      </p:sp>
    </p:spTree>
    <p:extLst>
      <p:ext uri="{BB962C8B-B14F-4D97-AF65-F5344CB8AC3E}">
        <p14:creationId xmlns:p14="http://schemas.microsoft.com/office/powerpoint/2010/main" val="3799320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99B18-EB07-74E8-290D-A3583DAF0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1FE95-F176-359E-26E2-0ECABAA32E60}"/>
              </a:ext>
            </a:extLst>
          </p:cNvPr>
          <p:cNvSpPr>
            <a:spLocks noGrp="1"/>
          </p:cNvSpPr>
          <p:nvPr>
            <p:ph type="title"/>
          </p:nvPr>
        </p:nvSpPr>
        <p:spPr>
          <a:xfrm>
            <a:off x="180652" y="183450"/>
            <a:ext cx="8104931" cy="554587"/>
          </a:xfrm>
        </p:spPr>
        <p:txBody>
          <a:bodyPr/>
          <a:lstStyle/>
          <a:p>
            <a:r>
              <a:rPr lang="en-US" dirty="0"/>
              <a:t>Phase 1: Off-Chain Sentiment Architecture</a:t>
            </a:r>
          </a:p>
        </p:txBody>
      </p:sp>
      <p:sp>
        <p:nvSpPr>
          <p:cNvPr id="3" name="Content Placeholder 2">
            <a:extLst>
              <a:ext uri="{FF2B5EF4-FFF2-40B4-BE49-F238E27FC236}">
                <a16:creationId xmlns:a16="http://schemas.microsoft.com/office/drawing/2014/main" id="{1FD20F97-188E-1EFA-B78E-847450D9239D}"/>
              </a:ext>
            </a:extLst>
          </p:cNvPr>
          <p:cNvSpPr>
            <a:spLocks noGrp="1"/>
          </p:cNvSpPr>
          <p:nvPr>
            <p:ph sz="half" idx="2"/>
          </p:nvPr>
        </p:nvSpPr>
        <p:spPr/>
        <p:txBody>
          <a:bodyPr/>
          <a:lstStyle/>
          <a:p>
            <a:pPr marL="0" indent="0">
              <a:buNone/>
            </a:pPr>
            <a:r>
              <a:rPr lang="en-US" b="1" dirty="0">
                <a:latin typeface="+mn-lt"/>
              </a:rPr>
              <a:t>Data Acquisition: </a:t>
            </a:r>
            <a:r>
              <a:rPr lang="en-US" dirty="0">
                <a:latin typeface="+mn-lt"/>
              </a:rPr>
              <a:t>Developed a custom scraper using PRAW (Python Reddit API Wrapper).</a:t>
            </a:r>
          </a:p>
          <a:p>
            <a:pPr marL="0" indent="0">
              <a:buNone/>
            </a:pPr>
            <a:endParaRPr lang="en-US" dirty="0">
              <a:latin typeface="+mn-lt"/>
            </a:endParaRPr>
          </a:p>
          <a:p>
            <a:pPr marL="0" indent="0">
              <a:buNone/>
            </a:pPr>
            <a:r>
              <a:rPr lang="en-US" b="1" dirty="0">
                <a:latin typeface="+mn-lt"/>
              </a:rPr>
              <a:t>Target Platforms: </a:t>
            </a:r>
            <a:r>
              <a:rPr lang="en-US" dirty="0">
                <a:latin typeface="+mn-lt"/>
              </a:rPr>
              <a:t>Extracts posts/comments from subreddits like r/</a:t>
            </a:r>
            <a:r>
              <a:rPr lang="en-US" dirty="0" err="1">
                <a:latin typeface="+mn-lt"/>
              </a:rPr>
              <a:t>CryptoCurrency</a:t>
            </a:r>
            <a:r>
              <a:rPr lang="en-US" dirty="0">
                <a:latin typeface="+mn-lt"/>
              </a:rPr>
              <a:t>, r/Bitcoin based on user-defined keywords (e.g., "FTX", "Celsius").</a:t>
            </a:r>
          </a:p>
          <a:p>
            <a:pPr marL="0" indent="0">
              <a:buNone/>
            </a:pPr>
            <a:endParaRPr lang="en-US" dirty="0">
              <a:latin typeface="+mn-lt"/>
            </a:endParaRPr>
          </a:p>
          <a:p>
            <a:pPr marL="0" indent="0">
              <a:buNone/>
            </a:pPr>
            <a:r>
              <a:rPr lang="en-US" b="1" dirty="0">
                <a:latin typeface="+mn-lt"/>
              </a:rPr>
              <a:t>Tier 1 (Baseline): </a:t>
            </a:r>
            <a:r>
              <a:rPr lang="en-US" dirty="0">
                <a:latin typeface="+mn-lt"/>
              </a:rPr>
              <a:t>VADER (Baseline): A lexicon and rule-based model tuned for social media.</a:t>
            </a:r>
          </a:p>
          <a:p>
            <a:pPr marL="0" indent="0">
              <a:buNone/>
            </a:pPr>
            <a:endParaRPr lang="en-US" dirty="0">
              <a:latin typeface="+mn-lt"/>
            </a:endParaRPr>
          </a:p>
          <a:p>
            <a:pPr marL="0" indent="0">
              <a:buNone/>
            </a:pPr>
            <a:r>
              <a:rPr lang="en-US" b="1" dirty="0">
                <a:latin typeface="+mn-lt"/>
              </a:rPr>
              <a:t>Tier 2 (Advanced): </a:t>
            </a:r>
            <a:r>
              <a:rPr lang="en-US" dirty="0" err="1">
                <a:latin typeface="+mn-lt"/>
              </a:rPr>
              <a:t>FinBERT</a:t>
            </a:r>
            <a:r>
              <a:rPr lang="en-US" dirty="0">
                <a:latin typeface="+mn-lt"/>
              </a:rPr>
              <a:t> (Advanced): A BERT-based transformer pre-trained on financial texts to capture nuanced context and sarcasm.</a:t>
            </a:r>
          </a:p>
        </p:txBody>
      </p:sp>
    </p:spTree>
    <p:extLst>
      <p:ext uri="{BB962C8B-B14F-4D97-AF65-F5344CB8AC3E}">
        <p14:creationId xmlns:p14="http://schemas.microsoft.com/office/powerpoint/2010/main" val="1086501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C670D-1EE6-8A0E-5101-9E16B24EF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D9FB9-CB56-A07E-1538-43893262D8E8}"/>
              </a:ext>
            </a:extLst>
          </p:cNvPr>
          <p:cNvSpPr>
            <a:spLocks noGrp="1"/>
          </p:cNvSpPr>
          <p:nvPr>
            <p:ph type="title"/>
          </p:nvPr>
        </p:nvSpPr>
        <p:spPr>
          <a:xfrm>
            <a:off x="180652" y="183450"/>
            <a:ext cx="8104931" cy="554587"/>
          </a:xfrm>
        </p:spPr>
        <p:txBody>
          <a:bodyPr/>
          <a:lstStyle/>
          <a:p>
            <a:r>
              <a:rPr lang="en-IN" dirty="0"/>
              <a:t>Risk Quantification &amp; VADER Mechanics</a:t>
            </a:r>
            <a:endParaRPr lang="en-US" dirty="0"/>
          </a:p>
        </p:txBody>
      </p:sp>
      <p:sp>
        <p:nvSpPr>
          <p:cNvPr id="3" name="Content Placeholder 2">
            <a:extLst>
              <a:ext uri="{FF2B5EF4-FFF2-40B4-BE49-F238E27FC236}">
                <a16:creationId xmlns:a16="http://schemas.microsoft.com/office/drawing/2014/main" id="{41244195-565B-D083-375E-0EE30FE531A3}"/>
              </a:ext>
            </a:extLst>
          </p:cNvPr>
          <p:cNvSpPr>
            <a:spLocks noGrp="1"/>
          </p:cNvSpPr>
          <p:nvPr>
            <p:ph sz="half" idx="2"/>
          </p:nvPr>
        </p:nvSpPr>
        <p:spPr/>
        <p:txBody>
          <a:bodyPr/>
          <a:lstStyle/>
          <a:p>
            <a:pPr marL="0" indent="0">
              <a:buNone/>
            </a:pPr>
            <a:r>
              <a:rPr lang="en-US" b="1" dirty="0">
                <a:latin typeface="+mn-lt"/>
              </a:rPr>
              <a:t>Lexical Scoring: </a:t>
            </a:r>
            <a:r>
              <a:rPr lang="en-US" dirty="0">
                <a:latin typeface="+mn-lt"/>
              </a:rPr>
              <a:t>Why VADER? Selected for its ability to interpret crypto slang and emojis, calculating scores via lexical valence.</a:t>
            </a:r>
          </a:p>
          <a:p>
            <a:pPr marL="0" indent="0">
              <a:buNone/>
            </a:pPr>
            <a:endParaRPr lang="en-US" dirty="0">
              <a:latin typeface="+mn-lt"/>
            </a:endParaRPr>
          </a:p>
          <a:p>
            <a:pPr marL="0" indent="0">
              <a:buNone/>
            </a:pPr>
            <a:r>
              <a:rPr lang="en-US" b="1" dirty="0">
                <a:latin typeface="+mn-lt"/>
              </a:rPr>
              <a:t>Panic Detection: </a:t>
            </a:r>
            <a:r>
              <a:rPr lang="en-US" dirty="0">
                <a:latin typeface="+mn-lt"/>
              </a:rPr>
              <a:t>Sentiment Risk: Detects "Panic Events" by correlating sharp sentiment drops with volume spikes.</a:t>
            </a:r>
          </a:p>
          <a:p>
            <a:pPr marL="0" indent="0">
              <a:buNone/>
            </a:pPr>
            <a:endParaRPr lang="en-US" dirty="0">
              <a:latin typeface="+mn-lt"/>
            </a:endParaRPr>
          </a:p>
          <a:p>
            <a:pPr marL="0" indent="0">
              <a:buNone/>
            </a:pPr>
            <a:r>
              <a:rPr lang="en-US" b="1" dirty="0">
                <a:latin typeface="+mn-lt"/>
              </a:rPr>
              <a:t>Holistic Metric: </a:t>
            </a:r>
            <a:r>
              <a:rPr lang="en-US" dirty="0">
                <a:latin typeface="+mn-lt"/>
              </a:rPr>
              <a:t>Calculates a final Overall Risk Score based on negative sentiment ratio, steepness of sentiment decline, and discussion volume.</a:t>
            </a:r>
          </a:p>
        </p:txBody>
      </p:sp>
    </p:spTree>
    <p:extLst>
      <p:ext uri="{BB962C8B-B14F-4D97-AF65-F5344CB8AC3E}">
        <p14:creationId xmlns:p14="http://schemas.microsoft.com/office/powerpoint/2010/main" val="2176885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7FD93-D06A-9A66-743A-3ABE081C2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116EB-B6C5-84D2-E04D-80B5C33501D0}"/>
              </a:ext>
            </a:extLst>
          </p:cNvPr>
          <p:cNvSpPr>
            <a:spLocks noGrp="1"/>
          </p:cNvSpPr>
          <p:nvPr>
            <p:ph type="title"/>
          </p:nvPr>
        </p:nvSpPr>
        <p:spPr>
          <a:xfrm>
            <a:off x="180652" y="183450"/>
            <a:ext cx="8104931" cy="554587"/>
          </a:xfrm>
        </p:spPr>
        <p:txBody>
          <a:bodyPr/>
          <a:lstStyle/>
          <a:p>
            <a:r>
              <a:rPr lang="en-US" dirty="0"/>
              <a:t>Case Study A: </a:t>
            </a:r>
            <a:r>
              <a:rPr lang="en-US" dirty="0" err="1"/>
              <a:t>ZKasino</a:t>
            </a:r>
            <a:r>
              <a:rPr lang="en-US" dirty="0"/>
              <a:t> (Active Scam)</a:t>
            </a:r>
          </a:p>
        </p:txBody>
      </p:sp>
      <p:sp>
        <p:nvSpPr>
          <p:cNvPr id="3" name="Content Placeholder 2">
            <a:extLst>
              <a:ext uri="{FF2B5EF4-FFF2-40B4-BE49-F238E27FC236}">
                <a16:creationId xmlns:a16="http://schemas.microsoft.com/office/drawing/2014/main" id="{1AA9FB9E-21B4-FFF6-D3F8-098B32BBC17F}"/>
              </a:ext>
            </a:extLst>
          </p:cNvPr>
          <p:cNvSpPr>
            <a:spLocks noGrp="1"/>
          </p:cNvSpPr>
          <p:nvPr>
            <p:ph sz="half" idx="2"/>
          </p:nvPr>
        </p:nvSpPr>
        <p:spPr/>
        <p:txBody>
          <a:bodyPr/>
          <a:lstStyle/>
          <a:p>
            <a:pPr marL="0" indent="0">
              <a:buNone/>
            </a:pPr>
            <a:r>
              <a:rPr lang="en-US" b="1" dirty="0">
                <a:latin typeface="+mn-lt"/>
              </a:rPr>
              <a:t>The Scenario: </a:t>
            </a:r>
            <a:r>
              <a:rPr lang="en-US" dirty="0">
                <a:latin typeface="+mn-lt"/>
              </a:rPr>
              <a:t>A $30 million smart contract rug pull disguised as a "bridge-to-earn" campaign.</a:t>
            </a:r>
          </a:p>
          <a:p>
            <a:pPr marL="0" indent="0">
              <a:buNone/>
            </a:pPr>
            <a:endParaRPr lang="en-US" dirty="0">
              <a:latin typeface="+mn-lt"/>
            </a:endParaRPr>
          </a:p>
          <a:p>
            <a:pPr marL="0" indent="0">
              <a:buNone/>
            </a:pPr>
            <a:r>
              <a:rPr lang="en-US" b="1" dirty="0">
                <a:latin typeface="+mn-lt"/>
              </a:rPr>
              <a:t>Results: </a:t>
            </a:r>
            <a:r>
              <a:rPr lang="en-US" dirty="0">
                <a:latin typeface="+mn-lt"/>
              </a:rPr>
              <a:t>For the recent </a:t>
            </a:r>
            <a:r>
              <a:rPr lang="en-US" dirty="0" err="1">
                <a:latin typeface="+mn-lt"/>
              </a:rPr>
              <a:t>ZKasino</a:t>
            </a:r>
            <a:r>
              <a:rPr lang="en-US" dirty="0">
                <a:latin typeface="+mn-lt"/>
              </a:rPr>
              <a:t> incident, the model successfully isolated a strong negative signal (13.35%) despite the smaller sample size (67 comments).</a:t>
            </a:r>
          </a:p>
          <a:p>
            <a:pPr marL="0" indent="0">
              <a:buNone/>
            </a:pPr>
            <a:endParaRPr lang="en-US" dirty="0">
              <a:latin typeface="+mn-lt"/>
            </a:endParaRPr>
          </a:p>
          <a:p>
            <a:pPr marL="0" indent="0">
              <a:buNone/>
            </a:pPr>
            <a:r>
              <a:rPr lang="en-US" b="1" dirty="0">
                <a:latin typeface="+mn-lt"/>
              </a:rPr>
              <a:t>Verdict:</a:t>
            </a:r>
            <a:r>
              <a:rPr lang="en-US" dirty="0">
                <a:latin typeface="+mn-lt"/>
              </a:rPr>
              <a:t> The sentiment verdict was "Overwhelmingly Negative," confirming the model's ability to "perfectly" detect active threats in real-time without needing massive data history.</a:t>
            </a:r>
          </a:p>
        </p:txBody>
      </p:sp>
    </p:spTree>
    <p:extLst>
      <p:ext uri="{BB962C8B-B14F-4D97-AF65-F5344CB8AC3E}">
        <p14:creationId xmlns:p14="http://schemas.microsoft.com/office/powerpoint/2010/main" val="1526021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B092-A7AD-1873-79E5-FF9255F31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29C24-AB75-51E2-1D87-C67D01819E00}"/>
              </a:ext>
            </a:extLst>
          </p:cNvPr>
          <p:cNvSpPr>
            <a:spLocks noGrp="1"/>
          </p:cNvSpPr>
          <p:nvPr>
            <p:ph type="title"/>
          </p:nvPr>
        </p:nvSpPr>
        <p:spPr>
          <a:xfrm>
            <a:off x="180652" y="183450"/>
            <a:ext cx="8104931" cy="554587"/>
          </a:xfrm>
        </p:spPr>
        <p:txBody>
          <a:bodyPr/>
          <a:lstStyle/>
          <a:p>
            <a:r>
              <a:rPr lang="en-US" dirty="0"/>
              <a:t>Case Study B: FTX (Historical Benchmark)</a:t>
            </a:r>
          </a:p>
        </p:txBody>
      </p:sp>
      <p:sp>
        <p:nvSpPr>
          <p:cNvPr id="3" name="Content Placeholder 2">
            <a:extLst>
              <a:ext uri="{FF2B5EF4-FFF2-40B4-BE49-F238E27FC236}">
                <a16:creationId xmlns:a16="http://schemas.microsoft.com/office/drawing/2014/main" id="{A458B895-2B83-8420-9EAC-5CAD19357298}"/>
              </a:ext>
            </a:extLst>
          </p:cNvPr>
          <p:cNvSpPr>
            <a:spLocks noGrp="1"/>
          </p:cNvSpPr>
          <p:nvPr>
            <p:ph sz="half" idx="2"/>
          </p:nvPr>
        </p:nvSpPr>
        <p:spPr/>
        <p:txBody>
          <a:bodyPr/>
          <a:lstStyle/>
          <a:p>
            <a:pPr marL="0" indent="0">
              <a:buNone/>
            </a:pPr>
            <a:r>
              <a:rPr lang="en-US" b="1" dirty="0">
                <a:latin typeface="+mn-lt"/>
              </a:rPr>
              <a:t>The Scenario: </a:t>
            </a:r>
            <a:r>
              <a:rPr lang="en-US" dirty="0">
                <a:latin typeface="+mn-lt"/>
              </a:rPr>
              <a:t>A systemic exchange collapse driven by corporate insolvency.</a:t>
            </a:r>
          </a:p>
          <a:p>
            <a:pPr marL="0" indent="0">
              <a:buNone/>
            </a:pPr>
            <a:r>
              <a:rPr lang="en-US" dirty="0">
                <a:latin typeface="+mn-lt"/>
              </a:rPr>
              <a:t>The FTX dataset, being older and much larger (9,378 comments), contains significant noise and "false positives" (11.90% positive sentiment) likely due to historical "shill" campaigns or lingering fan discussions.</a:t>
            </a:r>
          </a:p>
          <a:p>
            <a:pPr marL="0" indent="0">
              <a:buNone/>
            </a:pPr>
            <a:endParaRPr lang="en-US" dirty="0">
              <a:latin typeface="+mn-lt"/>
            </a:endParaRPr>
          </a:p>
          <a:p>
            <a:pPr marL="0" indent="0">
              <a:buNone/>
            </a:pPr>
            <a:r>
              <a:rPr lang="en-US" b="1" dirty="0">
                <a:latin typeface="+mn-lt"/>
              </a:rPr>
              <a:t>Results:</a:t>
            </a:r>
            <a:r>
              <a:rPr lang="en-US" dirty="0">
                <a:latin typeface="+mn-lt"/>
              </a:rPr>
              <a:t> However, the model still detected a baseline negative sentiment of 8.07%.</a:t>
            </a:r>
          </a:p>
          <a:p>
            <a:pPr marL="0" indent="0">
              <a:buNone/>
            </a:pPr>
            <a:r>
              <a:rPr lang="en-US" b="1" dirty="0">
                <a:latin typeface="+mn-lt"/>
              </a:rPr>
              <a:t>Conclusion:</a:t>
            </a:r>
            <a:r>
              <a:rPr lang="en-US" dirty="0">
                <a:latin typeface="+mn-lt"/>
              </a:rPr>
              <a:t> These results suggest that a Negative Sentiment Threshold of &gt;8% is a reliable indicator of fraudulent activity, effectively flagging both the "noisy" historical case (FTX) and the clear active case (</a:t>
            </a:r>
            <a:r>
              <a:rPr lang="en-US" dirty="0" err="1">
                <a:latin typeface="+mn-lt"/>
              </a:rPr>
              <a:t>ZKasino</a:t>
            </a:r>
            <a:r>
              <a:rPr lang="en-US" dirty="0">
                <a:latin typeface="+mn-lt"/>
              </a:rPr>
              <a:t>).</a:t>
            </a:r>
          </a:p>
        </p:txBody>
      </p:sp>
    </p:spTree>
    <p:extLst>
      <p:ext uri="{BB962C8B-B14F-4D97-AF65-F5344CB8AC3E}">
        <p14:creationId xmlns:p14="http://schemas.microsoft.com/office/powerpoint/2010/main" val="2194444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080E3-605A-E0AB-8863-81BD2500B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BB660-3E50-3579-647A-A251D30895EC}"/>
              </a:ext>
            </a:extLst>
          </p:cNvPr>
          <p:cNvSpPr>
            <a:spLocks noGrp="1"/>
          </p:cNvSpPr>
          <p:nvPr>
            <p:ph type="title"/>
          </p:nvPr>
        </p:nvSpPr>
        <p:spPr>
          <a:xfrm>
            <a:off x="180652" y="183450"/>
            <a:ext cx="8104931" cy="554587"/>
          </a:xfrm>
        </p:spPr>
        <p:txBody>
          <a:bodyPr/>
          <a:lstStyle/>
          <a:p>
            <a:r>
              <a:rPr lang="en-US" dirty="0"/>
              <a:t>Phase 2: On-Chain Anomaly Detection Methodology</a:t>
            </a:r>
          </a:p>
        </p:txBody>
      </p:sp>
      <p:sp>
        <p:nvSpPr>
          <p:cNvPr id="3" name="Content Placeholder 2">
            <a:extLst>
              <a:ext uri="{FF2B5EF4-FFF2-40B4-BE49-F238E27FC236}">
                <a16:creationId xmlns:a16="http://schemas.microsoft.com/office/drawing/2014/main" id="{C7FC35F6-F47A-B3C5-B2E1-1D2CF2325179}"/>
              </a:ext>
            </a:extLst>
          </p:cNvPr>
          <p:cNvSpPr>
            <a:spLocks noGrp="1"/>
          </p:cNvSpPr>
          <p:nvPr>
            <p:ph sz="half" idx="2"/>
          </p:nvPr>
        </p:nvSpPr>
        <p:spPr/>
        <p:txBody>
          <a:bodyPr/>
          <a:lstStyle/>
          <a:p>
            <a:pPr marL="0" indent="0">
              <a:buNone/>
            </a:pPr>
            <a:r>
              <a:rPr lang="en-US" b="1" dirty="0">
                <a:latin typeface="+mn-lt"/>
              </a:rPr>
              <a:t>Workflow: </a:t>
            </a:r>
            <a:r>
              <a:rPr lang="en-US" dirty="0">
                <a:latin typeface="+mn-lt"/>
              </a:rPr>
              <a:t>The proposed pipeline consists of four key stages: Data Pipeline &amp; Preprocessing, Feature Engineering, Classification models, and Model evaluation.</a:t>
            </a:r>
          </a:p>
          <a:p>
            <a:pPr marL="0" indent="0">
              <a:buNone/>
            </a:pPr>
            <a:endParaRPr lang="en-US" dirty="0">
              <a:latin typeface="+mn-lt"/>
            </a:endParaRPr>
          </a:p>
          <a:p>
            <a:pPr marL="0" indent="0">
              <a:buNone/>
            </a:pPr>
            <a:r>
              <a:rPr lang="en-US" b="1" dirty="0">
                <a:latin typeface="+mn-lt"/>
              </a:rPr>
              <a:t>Preprocessing: </a:t>
            </a:r>
            <a:r>
              <a:rPr lang="en-US" dirty="0">
                <a:latin typeface="+mn-lt"/>
              </a:rPr>
              <a:t>Imputation: The "Handling missing values" stage utilized statistical imputation (e.g., mean/median) to address gaps in transaction logs caused by failed or dropped block data.</a:t>
            </a:r>
          </a:p>
          <a:p>
            <a:pPr marL="0" indent="0">
              <a:buNone/>
            </a:pPr>
            <a:endParaRPr lang="en-US" dirty="0">
              <a:latin typeface="+mn-lt"/>
            </a:endParaRPr>
          </a:p>
          <a:p>
            <a:pPr marL="0" indent="0">
              <a:buNone/>
            </a:pPr>
            <a:r>
              <a:rPr lang="en-US" b="1" dirty="0">
                <a:latin typeface="+mn-lt"/>
              </a:rPr>
              <a:t>Validation: </a:t>
            </a:r>
            <a:r>
              <a:rPr lang="en-US" dirty="0">
                <a:latin typeface="+mn-lt"/>
              </a:rPr>
              <a:t>Cross-Validation: To prevent overfitting on historical data, we employed Stratified K-Fold Cross-Validation.</a:t>
            </a:r>
          </a:p>
        </p:txBody>
      </p:sp>
    </p:spTree>
    <p:extLst>
      <p:ext uri="{BB962C8B-B14F-4D97-AF65-F5344CB8AC3E}">
        <p14:creationId xmlns:p14="http://schemas.microsoft.com/office/powerpoint/2010/main" val="1848237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8D0E-4FAA-C37A-456D-3CC30CD09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F908E9-8FDA-2AE0-EA15-7AD50E9D3DC6}"/>
              </a:ext>
            </a:extLst>
          </p:cNvPr>
          <p:cNvSpPr>
            <a:spLocks noGrp="1"/>
          </p:cNvSpPr>
          <p:nvPr>
            <p:ph type="title"/>
          </p:nvPr>
        </p:nvSpPr>
        <p:spPr>
          <a:xfrm>
            <a:off x="180652" y="183450"/>
            <a:ext cx="8104931" cy="554587"/>
          </a:xfrm>
        </p:spPr>
        <p:txBody>
          <a:bodyPr/>
          <a:lstStyle/>
          <a:p>
            <a:r>
              <a:rPr lang="en-US" dirty="0"/>
              <a:t>Feature Engineering for Blockchain Data</a:t>
            </a:r>
          </a:p>
        </p:txBody>
      </p:sp>
      <p:sp>
        <p:nvSpPr>
          <p:cNvPr id="3" name="Content Placeholder 2">
            <a:extLst>
              <a:ext uri="{FF2B5EF4-FFF2-40B4-BE49-F238E27FC236}">
                <a16:creationId xmlns:a16="http://schemas.microsoft.com/office/drawing/2014/main" id="{21D0956B-5998-8D8B-5A56-D8382E412320}"/>
              </a:ext>
            </a:extLst>
          </p:cNvPr>
          <p:cNvSpPr>
            <a:spLocks noGrp="1"/>
          </p:cNvSpPr>
          <p:nvPr>
            <p:ph sz="half" idx="2"/>
          </p:nvPr>
        </p:nvSpPr>
        <p:spPr/>
        <p:txBody>
          <a:bodyPr/>
          <a:lstStyle/>
          <a:p>
            <a:pPr marL="0" indent="0">
              <a:buNone/>
            </a:pPr>
            <a:r>
              <a:rPr lang="en-US" b="1" dirty="0">
                <a:latin typeface="+mn-lt"/>
              </a:rPr>
              <a:t>Efficiency: </a:t>
            </a:r>
            <a:r>
              <a:rPr lang="en-US" dirty="0">
                <a:latin typeface="+mn-lt"/>
              </a:rPr>
              <a:t>Instead of using all raw blockchain data (which is computationally expensive), </a:t>
            </a:r>
            <a:r>
              <a:rPr lang="en-US">
                <a:latin typeface="+mn-lt"/>
              </a:rPr>
              <a:t>we extracted </a:t>
            </a:r>
            <a:r>
              <a:rPr lang="en-US" dirty="0">
                <a:latin typeface="+mn-lt"/>
              </a:rPr>
              <a:t>a limited, high-impact feature vector.</a:t>
            </a:r>
          </a:p>
          <a:p>
            <a:pPr marL="0" indent="0">
              <a:buNone/>
            </a:pPr>
            <a:endParaRPr lang="en-US" dirty="0">
              <a:latin typeface="+mn-lt"/>
            </a:endParaRPr>
          </a:p>
          <a:p>
            <a:pPr marL="0" indent="0">
              <a:buNone/>
            </a:pPr>
            <a:r>
              <a:rPr lang="en-US" b="1" dirty="0">
                <a:latin typeface="+mn-lt"/>
              </a:rPr>
              <a:t>Transactional Indicators: </a:t>
            </a:r>
            <a:r>
              <a:rPr lang="en-US" dirty="0">
                <a:latin typeface="+mn-lt"/>
              </a:rPr>
              <a:t>Avg. time between sent/received transactions, total ETH volume.</a:t>
            </a:r>
          </a:p>
          <a:p>
            <a:pPr marL="0" indent="0">
              <a:buNone/>
            </a:pPr>
            <a:endParaRPr lang="en-US" dirty="0">
              <a:latin typeface="+mn-lt"/>
            </a:endParaRPr>
          </a:p>
          <a:p>
            <a:pPr marL="0" indent="0">
              <a:buNone/>
            </a:pPr>
            <a:r>
              <a:rPr lang="en-US" b="1" dirty="0">
                <a:latin typeface="+mn-lt"/>
              </a:rPr>
              <a:t>Behavioral Indicators: </a:t>
            </a:r>
            <a:r>
              <a:rPr lang="en-US" dirty="0">
                <a:latin typeface="+mn-lt"/>
              </a:rPr>
              <a:t>Interaction counts with known contracts and account lifetime.</a:t>
            </a:r>
          </a:p>
        </p:txBody>
      </p:sp>
    </p:spTree>
    <p:extLst>
      <p:ext uri="{BB962C8B-B14F-4D97-AF65-F5344CB8AC3E}">
        <p14:creationId xmlns:p14="http://schemas.microsoft.com/office/powerpoint/2010/main" val="706814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F5B86-C9F7-9685-E84F-F0EA5F24C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2EFFD-A57C-004F-82A8-74AAB9123769}"/>
              </a:ext>
            </a:extLst>
          </p:cNvPr>
          <p:cNvSpPr>
            <a:spLocks noGrp="1"/>
          </p:cNvSpPr>
          <p:nvPr>
            <p:ph type="title"/>
          </p:nvPr>
        </p:nvSpPr>
        <p:spPr>
          <a:xfrm>
            <a:off x="180652" y="183450"/>
            <a:ext cx="8104931" cy="554587"/>
          </a:xfrm>
        </p:spPr>
        <p:txBody>
          <a:bodyPr/>
          <a:lstStyle/>
          <a:p>
            <a:r>
              <a:rPr lang="en-US" dirty="0" err="1"/>
              <a:t>XGBoost</a:t>
            </a:r>
            <a:r>
              <a:rPr lang="en-US" dirty="0"/>
              <a:t> as the Primary Classifier</a:t>
            </a:r>
          </a:p>
        </p:txBody>
      </p:sp>
      <p:sp>
        <p:nvSpPr>
          <p:cNvPr id="3" name="Content Placeholder 2">
            <a:extLst>
              <a:ext uri="{FF2B5EF4-FFF2-40B4-BE49-F238E27FC236}">
                <a16:creationId xmlns:a16="http://schemas.microsoft.com/office/drawing/2014/main" id="{A916FB59-6BD1-C9D3-AC86-80FB7E458E83}"/>
              </a:ext>
            </a:extLst>
          </p:cNvPr>
          <p:cNvSpPr>
            <a:spLocks noGrp="1"/>
          </p:cNvSpPr>
          <p:nvPr>
            <p:ph sz="half" idx="2"/>
          </p:nvPr>
        </p:nvSpPr>
        <p:spPr/>
        <p:txBody>
          <a:bodyPr/>
          <a:lstStyle/>
          <a:p>
            <a:pPr marL="0" indent="0">
              <a:buNone/>
            </a:pPr>
            <a:r>
              <a:rPr lang="en-US" b="1" dirty="0">
                <a:latin typeface="+mn-lt"/>
              </a:rPr>
              <a:t>Model Selection: </a:t>
            </a:r>
            <a:r>
              <a:rPr lang="en-US" dirty="0" err="1">
                <a:latin typeface="+mn-lt"/>
              </a:rPr>
              <a:t>XGBoost</a:t>
            </a:r>
            <a:r>
              <a:rPr lang="en-US" dirty="0">
                <a:latin typeface="+mn-lt"/>
              </a:rPr>
              <a:t> (XGB Classifier): Our primary candidate, anticipated to be the "Best Model" due to its superior handling of tabular data and sparse feature sets.</a:t>
            </a:r>
          </a:p>
          <a:p>
            <a:pPr marL="0" indent="0">
              <a:buNone/>
            </a:pPr>
            <a:endParaRPr lang="en-US" dirty="0">
              <a:latin typeface="+mn-lt"/>
            </a:endParaRPr>
          </a:p>
          <a:p>
            <a:pPr marL="0" indent="0">
              <a:buNone/>
            </a:pPr>
            <a:r>
              <a:rPr lang="en-US" b="1" dirty="0">
                <a:latin typeface="+mn-lt"/>
              </a:rPr>
              <a:t>Mathematical Optimization: </a:t>
            </a:r>
            <a:r>
              <a:rPr lang="en-US" dirty="0" err="1">
                <a:latin typeface="+mn-lt"/>
              </a:rPr>
              <a:t>XGBoost</a:t>
            </a:r>
            <a:r>
              <a:rPr lang="en-US" dirty="0">
                <a:latin typeface="+mn-lt"/>
              </a:rPr>
              <a:t> minimizes the objective function combining a differentiable convex loss and a regularization term to penalize model complexity.</a:t>
            </a:r>
          </a:p>
        </p:txBody>
      </p:sp>
    </p:spTree>
    <p:extLst>
      <p:ext uri="{BB962C8B-B14F-4D97-AF65-F5344CB8AC3E}">
        <p14:creationId xmlns:p14="http://schemas.microsoft.com/office/powerpoint/2010/main" val="3303380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67CD3-89F0-BB35-5BA7-B4ACC05A4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8CA17-3100-DB1A-79E0-57B20692CDAD}"/>
              </a:ext>
            </a:extLst>
          </p:cNvPr>
          <p:cNvSpPr>
            <a:spLocks noGrp="1"/>
          </p:cNvSpPr>
          <p:nvPr>
            <p:ph type="title"/>
          </p:nvPr>
        </p:nvSpPr>
        <p:spPr>
          <a:xfrm>
            <a:off x="180652" y="183450"/>
            <a:ext cx="8104931" cy="554587"/>
          </a:xfrm>
        </p:spPr>
        <p:txBody>
          <a:bodyPr/>
          <a:lstStyle/>
          <a:p>
            <a:r>
              <a:rPr lang="en-US" dirty="0"/>
              <a:t>System Integration &amp; The Unified API</a:t>
            </a:r>
          </a:p>
        </p:txBody>
      </p:sp>
      <p:sp>
        <p:nvSpPr>
          <p:cNvPr id="3" name="Content Placeholder 2">
            <a:extLst>
              <a:ext uri="{FF2B5EF4-FFF2-40B4-BE49-F238E27FC236}">
                <a16:creationId xmlns:a16="http://schemas.microsoft.com/office/drawing/2014/main" id="{220F19BB-FA78-A7E7-53EC-8F65D7A8D641}"/>
              </a:ext>
            </a:extLst>
          </p:cNvPr>
          <p:cNvSpPr>
            <a:spLocks noGrp="1"/>
          </p:cNvSpPr>
          <p:nvPr>
            <p:ph sz="half" idx="2"/>
          </p:nvPr>
        </p:nvSpPr>
        <p:spPr/>
        <p:txBody>
          <a:bodyPr/>
          <a:lstStyle/>
          <a:p>
            <a:pPr marL="0" indent="0">
              <a:buNone/>
            </a:pPr>
            <a:r>
              <a:rPr lang="en-US" b="1" dirty="0">
                <a:latin typeface="+mn-lt"/>
              </a:rPr>
              <a:t>Unified API: </a:t>
            </a:r>
            <a:r>
              <a:rPr lang="en-US" dirty="0">
                <a:latin typeface="+mn-lt"/>
              </a:rPr>
              <a:t>Fusing the Sentiment Risk Score with On-Chain Probability for a unified fraud detection metric.</a:t>
            </a:r>
          </a:p>
          <a:p>
            <a:pPr marL="0" indent="0">
              <a:buNone/>
            </a:pPr>
            <a:endParaRPr lang="en-US" dirty="0">
              <a:latin typeface="+mn-lt"/>
            </a:endParaRPr>
          </a:p>
          <a:p>
            <a:pPr marL="0" indent="0">
              <a:buNone/>
            </a:pPr>
            <a:r>
              <a:rPr lang="en-US" b="1" dirty="0">
                <a:latin typeface="+mn-lt"/>
              </a:rPr>
              <a:t>Implementation Details: </a:t>
            </a:r>
            <a:r>
              <a:rPr lang="en-US" dirty="0">
                <a:latin typeface="+mn-lt"/>
              </a:rPr>
              <a:t>The backend is built using </a:t>
            </a:r>
            <a:r>
              <a:rPr lang="en-US" sz="1800" dirty="0" err="1">
                <a:latin typeface="Cascadia Mono SemiLight" panose="020B0609020000020004" pitchFamily="49" charset="0"/>
                <a:ea typeface="Cascadia Mono SemiLight" panose="020B0609020000020004" pitchFamily="49" charset="0"/>
                <a:cs typeface="Cascadia Mono SemiLight" panose="020B0609020000020004" pitchFamily="49" charset="0"/>
              </a:rPr>
              <a:t>Uvicorn</a:t>
            </a:r>
            <a:r>
              <a:rPr lang="en-US" sz="1800" dirty="0">
                <a:latin typeface="Cascadia Mono SemiLight" panose="020B0609020000020004" pitchFamily="49" charset="0"/>
                <a:ea typeface="Cascadia Mono SemiLight" panose="020B0609020000020004" pitchFamily="49" charset="0"/>
                <a:cs typeface="Cascadia Mono SemiLight" panose="020B0609020000020004" pitchFamily="49" charset="0"/>
              </a:rPr>
              <a:t>/</a:t>
            </a:r>
            <a:r>
              <a:rPr lang="en-US" sz="1800" dirty="0" err="1">
                <a:latin typeface="Cascadia Mono SemiLight" panose="020B0609020000020004" pitchFamily="49" charset="0"/>
                <a:ea typeface="Cascadia Mono SemiLight" panose="020B0609020000020004" pitchFamily="49" charset="0"/>
                <a:cs typeface="Cascadia Mono SemiLight" panose="020B0609020000020004" pitchFamily="49" charset="0"/>
              </a:rPr>
              <a:t>FastAPI</a:t>
            </a:r>
            <a:r>
              <a:rPr lang="en-US" sz="1800" dirty="0">
                <a:latin typeface="Cascadia Mono SemiLight" panose="020B0609020000020004" pitchFamily="49" charset="0"/>
                <a:ea typeface="Cascadia Mono SemiLight" panose="020B0609020000020004" pitchFamily="49" charset="0"/>
                <a:cs typeface="Cascadia Mono SemiLight" panose="020B0609020000020004" pitchFamily="49" charset="0"/>
              </a:rPr>
              <a:t> </a:t>
            </a:r>
            <a:r>
              <a:rPr lang="en-US" dirty="0">
                <a:latin typeface="+mn-lt"/>
              </a:rPr>
              <a:t>with a modular architecture separating model states, data processing pipelines, and real-time visualization.</a:t>
            </a:r>
          </a:p>
          <a:p>
            <a:pPr marL="0" indent="0">
              <a:buNone/>
            </a:pPr>
            <a:endParaRPr lang="en-US" b="1" dirty="0">
              <a:latin typeface="+mn-lt"/>
            </a:endParaRPr>
          </a:p>
          <a:p>
            <a:pPr marL="0" indent="0">
              <a:buNone/>
            </a:pPr>
            <a:r>
              <a:rPr lang="en-US" b="1" dirty="0">
                <a:latin typeface="+mn-lt"/>
              </a:rPr>
              <a:t>(screenshot of the dashboard interface)</a:t>
            </a:r>
            <a:endParaRPr lang="en-US" dirty="0">
              <a:latin typeface="+mn-lt"/>
            </a:endParaRPr>
          </a:p>
        </p:txBody>
      </p:sp>
    </p:spTree>
    <p:extLst>
      <p:ext uri="{BB962C8B-B14F-4D97-AF65-F5344CB8AC3E}">
        <p14:creationId xmlns:p14="http://schemas.microsoft.com/office/powerpoint/2010/main" val="803000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5709E-A4FA-12E4-5287-2B1F61D85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E288C-2E12-A30C-CCF8-41A24F73EFC3}"/>
              </a:ext>
            </a:extLst>
          </p:cNvPr>
          <p:cNvSpPr>
            <a:spLocks noGrp="1"/>
          </p:cNvSpPr>
          <p:nvPr>
            <p:ph type="title"/>
          </p:nvPr>
        </p:nvSpPr>
        <p:spPr>
          <a:xfrm>
            <a:off x="180652" y="183450"/>
            <a:ext cx="8104931" cy="554587"/>
          </a:xfrm>
        </p:spPr>
        <p:txBody>
          <a:bodyPr/>
          <a:lstStyle/>
          <a:p>
            <a:r>
              <a:rPr lang="en-IN" dirty="0"/>
              <a:t>Challenges &amp; Limitations</a:t>
            </a:r>
            <a:endParaRPr lang="en-US" dirty="0"/>
          </a:p>
        </p:txBody>
      </p:sp>
      <p:sp>
        <p:nvSpPr>
          <p:cNvPr id="3" name="Content Placeholder 2">
            <a:extLst>
              <a:ext uri="{FF2B5EF4-FFF2-40B4-BE49-F238E27FC236}">
                <a16:creationId xmlns:a16="http://schemas.microsoft.com/office/drawing/2014/main" id="{32F8847E-3914-E2A5-DEB5-6D90A0D30C4C}"/>
              </a:ext>
            </a:extLst>
          </p:cNvPr>
          <p:cNvSpPr>
            <a:spLocks noGrp="1"/>
          </p:cNvSpPr>
          <p:nvPr>
            <p:ph sz="half" idx="2"/>
          </p:nvPr>
        </p:nvSpPr>
        <p:spPr/>
        <p:txBody>
          <a:bodyPr/>
          <a:lstStyle/>
          <a:p>
            <a:pPr marL="0" indent="0">
              <a:buNone/>
            </a:pPr>
            <a:r>
              <a:rPr lang="en-US" b="1" dirty="0">
                <a:latin typeface="+mn-lt"/>
              </a:rPr>
              <a:t>Linguistic Nuances: </a:t>
            </a:r>
            <a:r>
              <a:rPr lang="en-US" dirty="0">
                <a:latin typeface="+mn-lt"/>
              </a:rPr>
              <a:t>Crypto discussions rely heavily on non-standard text (e.g., "MOON!!", "HODL", rocket emojis), which standard NLP models often miss.</a:t>
            </a:r>
          </a:p>
          <a:p>
            <a:pPr marL="0" indent="0">
              <a:buNone/>
            </a:pPr>
            <a:endParaRPr lang="en-US" dirty="0">
              <a:latin typeface="+mn-lt"/>
            </a:endParaRPr>
          </a:p>
          <a:p>
            <a:pPr marL="0" indent="0">
              <a:buNone/>
            </a:pPr>
            <a:r>
              <a:rPr lang="en-US" b="1" dirty="0">
                <a:latin typeface="+mn-lt"/>
              </a:rPr>
              <a:t>Manipulation Tactics: </a:t>
            </a:r>
            <a:r>
              <a:rPr lang="en-US" dirty="0">
                <a:latin typeface="+mn-lt"/>
              </a:rPr>
              <a:t>Distinguishing between genuine community excitement and bot-driven "shilling" campaigns.</a:t>
            </a:r>
          </a:p>
          <a:p>
            <a:pPr marL="0" indent="0">
              <a:buNone/>
            </a:pPr>
            <a:endParaRPr lang="en-US" dirty="0">
              <a:latin typeface="+mn-lt"/>
            </a:endParaRPr>
          </a:p>
          <a:p>
            <a:pPr marL="0" indent="0">
              <a:buNone/>
            </a:pPr>
            <a:r>
              <a:rPr lang="en-US" b="1" dirty="0">
                <a:latin typeface="+mn-lt"/>
              </a:rPr>
              <a:t>The Sentiment Paradox: </a:t>
            </a:r>
            <a:r>
              <a:rPr lang="en-US" dirty="0">
                <a:latin typeface="+mn-lt"/>
              </a:rPr>
              <a:t>The results highlight a "False Positive Paradox" where scam discussions often contain 10% positive sentiment due to bots or denial.</a:t>
            </a:r>
          </a:p>
        </p:txBody>
      </p:sp>
    </p:spTree>
    <p:extLst>
      <p:ext uri="{BB962C8B-B14F-4D97-AF65-F5344CB8AC3E}">
        <p14:creationId xmlns:p14="http://schemas.microsoft.com/office/powerpoint/2010/main" val="6282717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A29AD-533F-4AAA-15D2-F99D6C299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F1A93-ACB1-D126-2A3A-50DABD070BDE}"/>
              </a:ext>
            </a:extLst>
          </p:cNvPr>
          <p:cNvSpPr>
            <a:spLocks noGrp="1"/>
          </p:cNvSpPr>
          <p:nvPr>
            <p:ph type="title"/>
          </p:nvPr>
        </p:nvSpPr>
        <p:spPr>
          <a:xfrm>
            <a:off x="180652" y="183450"/>
            <a:ext cx="8104931" cy="554587"/>
          </a:xfrm>
        </p:spPr>
        <p:txBody>
          <a:bodyPr/>
          <a:lstStyle/>
          <a:p>
            <a:r>
              <a:rPr lang="en-US" dirty="0"/>
              <a:t>Conclusion</a:t>
            </a:r>
          </a:p>
        </p:txBody>
      </p:sp>
      <p:sp>
        <p:nvSpPr>
          <p:cNvPr id="3" name="Content Placeholder 2">
            <a:extLst>
              <a:ext uri="{FF2B5EF4-FFF2-40B4-BE49-F238E27FC236}">
                <a16:creationId xmlns:a16="http://schemas.microsoft.com/office/drawing/2014/main" id="{6F968CAD-6A70-7F61-0A83-FC3D748665DB}"/>
              </a:ext>
            </a:extLst>
          </p:cNvPr>
          <p:cNvSpPr>
            <a:spLocks noGrp="1"/>
          </p:cNvSpPr>
          <p:nvPr>
            <p:ph sz="half" idx="2"/>
          </p:nvPr>
        </p:nvSpPr>
        <p:spPr/>
        <p:txBody>
          <a:bodyPr/>
          <a:lstStyle/>
          <a:p>
            <a:pPr marL="0" indent="0">
              <a:buNone/>
            </a:pPr>
            <a:r>
              <a:rPr lang="en-US" b="1" dirty="0">
                <a:latin typeface="+mn-lt"/>
              </a:rPr>
              <a:t>Milestone 1: </a:t>
            </a:r>
            <a:r>
              <a:rPr lang="en-US" dirty="0">
                <a:latin typeface="+mn-lt"/>
              </a:rPr>
              <a:t>Successfully established the Off-Chain component (Phase 1) of our fraud detection ecosystem.</a:t>
            </a:r>
          </a:p>
          <a:p>
            <a:pPr marL="0" indent="0">
              <a:buNone/>
            </a:pPr>
            <a:endParaRPr lang="en-US" dirty="0">
              <a:latin typeface="+mn-lt"/>
            </a:endParaRPr>
          </a:p>
          <a:p>
            <a:pPr marL="0" indent="0">
              <a:buNone/>
            </a:pPr>
            <a:r>
              <a:rPr lang="en-US" b="1" dirty="0">
                <a:latin typeface="+mn-lt"/>
              </a:rPr>
              <a:t>Milestone 2:</a:t>
            </a:r>
            <a:r>
              <a:rPr lang="en-US" dirty="0">
                <a:latin typeface="+mn-lt"/>
              </a:rPr>
              <a:t> By leveraging NLP on public forums, we can detect "reputational" scams that do not leave immediate traces on the blockchain.</a:t>
            </a:r>
          </a:p>
          <a:p>
            <a:pPr marL="0" indent="0">
              <a:buNone/>
            </a:pPr>
            <a:endParaRPr lang="en-US" dirty="0">
              <a:latin typeface="+mn-lt"/>
            </a:endParaRPr>
          </a:p>
          <a:p>
            <a:pPr marL="0" indent="0">
              <a:buNone/>
            </a:pPr>
            <a:r>
              <a:rPr lang="en-US" b="1" dirty="0">
                <a:latin typeface="+mn-lt"/>
              </a:rPr>
              <a:t>Deployment:</a:t>
            </a:r>
            <a:r>
              <a:rPr lang="en-US" dirty="0">
                <a:latin typeface="+mn-lt"/>
              </a:rPr>
              <a:t> Transitioning the integrated models into the live repository infrastructure to allow real-time monitoring and threat flagging for end-users.</a:t>
            </a:r>
          </a:p>
        </p:txBody>
      </p:sp>
    </p:spTree>
    <p:extLst>
      <p:ext uri="{BB962C8B-B14F-4D97-AF65-F5344CB8AC3E}">
        <p14:creationId xmlns:p14="http://schemas.microsoft.com/office/powerpoint/2010/main" val="4083499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7634" y="2981131"/>
            <a:ext cx="3568732" cy="711200"/>
          </a:xfrm>
        </p:spPr>
        <p:txBody>
          <a:bodyPr/>
          <a:lstStyle/>
          <a:p>
            <a:r>
              <a:rPr lang="en-US" dirty="0">
                <a:latin typeface="Cambria Math" panose="02040503050406030204" pitchFamily="18" charset="0"/>
                <a:ea typeface="Cambria Math" panose="02040503050406030204" pitchFamily="18" charset="0"/>
              </a:rPr>
              <a:t>THANK YOU</a:t>
            </a:r>
          </a:p>
        </p:txBody>
      </p:sp>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Aryan Raj_22116021</Template>
  <TotalTime>118</TotalTime>
  <Words>1965</Words>
  <Application>Microsoft Office PowerPoint</Application>
  <PresentationFormat>On-screen Show (4:3)</PresentationFormat>
  <Paragraphs>109</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 Math</vt:lpstr>
      <vt:lpstr>Cascadia Mono SemiLight</vt:lpstr>
      <vt:lpstr>Franklin Gothic Demi</vt:lpstr>
      <vt:lpstr>IITR_PPT_Template</vt:lpstr>
      <vt:lpstr>A MACHINE LEARNING APPROACH TO CRYPTOCURRENCY SCAM DETECTION</vt:lpstr>
      <vt:lpstr>Problem Statement &amp; Motivation</vt:lpstr>
      <vt:lpstr>The Detection Blindspots</vt:lpstr>
      <vt:lpstr>Proposed Solution: Dual-Path Architecture</vt:lpstr>
      <vt:lpstr>Phase 1: Off-Chain Sentiment Architecture</vt:lpstr>
      <vt:lpstr>Risk Quantification &amp; VADER Mechanics</vt:lpstr>
      <vt:lpstr>Case Study A: ZKasino (Active Scam)</vt:lpstr>
      <vt:lpstr>Case Study B: FTX (Historical Benchmark)</vt:lpstr>
      <vt:lpstr>Phase 2: On-Chain Anomaly Detection Methodology</vt:lpstr>
      <vt:lpstr>Feature Engineering for Blockchain Data</vt:lpstr>
      <vt:lpstr>XGBoost as the Primary Classifier</vt:lpstr>
      <vt:lpstr>System Integration &amp; The Unified API</vt:lpstr>
      <vt:lpstr>Challenges &amp; Limitations</vt:lpstr>
      <vt:lpstr>Conclusion</vt:lpstr>
      <vt:lpstr>THANK YOU</vt:lpstr>
    </vt:vector>
  </TitlesOfParts>
  <Manager>Dr. Sudip Roy</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IITR PPT Template</dc:subject>
  <dc:creator>Alex Orion</dc:creator>
  <cp:lastModifiedBy>Alex Orion</cp:lastModifiedBy>
  <cp:revision>1</cp:revision>
  <dcterms:created xsi:type="dcterms:W3CDTF">2026-05-19T10:52:56Z</dcterms:created>
  <dcterms:modified xsi:type="dcterms:W3CDTF">2026-05-19T12:51:44Z</dcterms:modified>
  <cp:version>v1</cp:version>
</cp:coreProperties>
</file>